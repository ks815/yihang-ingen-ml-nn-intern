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MID-POINT REVIEW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1024128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 ML / NN Analyst Internship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100584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1-2 Summary  ·  Yihang Sun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22960" y="3520440"/>
            <a:ext cx="2926080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977640"/>
            <a:ext cx="50292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InGen platform landscape</a:t>
            </a:r>
            <a:endParaRPr lang="en-US" sz="15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OpenClaw → PIC 2.0 bridge</a:t>
            </a:r>
            <a:endParaRPr lang="en-US" sz="15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Week 1 key finding</a:t>
            </a:r>
            <a:endParaRPr lang="en-US" sz="15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Edge classifier design</a:t>
            </a:r>
            <a:endParaRPr lang="en-US" sz="15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Classification results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35040" y="3977640"/>
            <a:ext cx="5029200" cy="21945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Quantization &amp; latency</a:t>
            </a:r>
            <a:endParaRPr lang="en-US" sz="15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Cross-track synthesis</a:t>
            </a:r>
            <a:endParaRPr lang="en-US" sz="15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Limitations &amp; open questions</a:t>
            </a:r>
            <a:endParaRPr lang="en-US" sz="15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Future roadmap</a:t>
            </a:r>
            <a:endParaRPr lang="en-US" sz="150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5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Q&amp;A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PLATFORM RESEARCH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InGen Platform Landscape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515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products, one shared architecture. Target use case, ML inference type, and key constraint for each.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4F6F8"/>
          </a:solidFill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07592" y="2103120"/>
            <a:ext cx="566928" cy="566928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7" name="Text 5"/>
          <p:cNvSpPr/>
          <p:nvPr/>
        </p:nvSpPr>
        <p:spPr>
          <a:xfrm>
            <a:off x="1307592" y="21031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1865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Fari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" y="3291840"/>
            <a:ext cx="186537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Eldercare companion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3730752"/>
            <a:ext cx="1444752" cy="0"/>
          </a:xfrm>
          <a:prstGeom prst="line">
            <a:avLst/>
          </a:prstGeom>
          <a:noFill/>
          <a:ln w="12700">
            <a:solidFill>
              <a:srgbClr val="D6DC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3886200"/>
            <a:ext cx="179222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Generation
</a:t>
            </a:r>
            <a:r>
              <a:rPr lang="en-US" sz="9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(SEOM λ=10.0, highest stated)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98064" y="182880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4F6F8"/>
          </a:solidFill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57016" y="2103120"/>
            <a:ext cx="566928" cy="566928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14" name="Text 12"/>
          <p:cNvSpPr/>
          <p:nvPr/>
        </p:nvSpPr>
        <p:spPr>
          <a:xfrm>
            <a:off x="3557016" y="21031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907792" y="2834640"/>
            <a:ext cx="1865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Senpai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2907792" y="3291840"/>
            <a:ext cx="186537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companion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118104" y="3730752"/>
            <a:ext cx="1444752" cy="0"/>
          </a:xfrm>
          <a:prstGeom prst="line">
            <a:avLst/>
          </a:prstGeom>
          <a:noFill/>
          <a:ln w="12700">
            <a:solidFill>
              <a:srgbClr val="D6DC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44368" y="3886200"/>
            <a:ext cx="179222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+ Retrieval + Classification
</a:t>
            </a:r>
            <a:r>
              <a:rPr lang="en-US" sz="9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Groundedness &amp; age-appropriate accuracy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47488" y="182880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4F6F8"/>
          </a:solidFill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806440" y="2103120"/>
            <a:ext cx="566928" cy="566928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21" name="Text 19"/>
          <p:cNvSpPr/>
          <p:nvPr/>
        </p:nvSpPr>
        <p:spPr>
          <a:xfrm>
            <a:off x="5806440" y="21031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157216" y="2834640"/>
            <a:ext cx="1865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 Prime AI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157216" y="3291840"/>
            <a:ext cx="186537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security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367528" y="3730752"/>
            <a:ext cx="1444752" cy="0"/>
          </a:xfrm>
          <a:prstGeom prst="line">
            <a:avLst/>
          </a:prstGeom>
          <a:noFill/>
          <a:ln w="12700">
            <a:solidFill>
              <a:srgbClr val="D6DC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93792" y="3886200"/>
            <a:ext cx="179222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(27 detection functions)
</a:t>
            </a:r>
            <a:r>
              <a:rPr lang="en-US" sz="9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&lt;200ms latency, &lt;3% false alerts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96912" y="182880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4F6F8"/>
          </a:solidFill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55864" y="2103120"/>
            <a:ext cx="566928" cy="566928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28" name="Text 26"/>
          <p:cNvSpPr/>
          <p:nvPr/>
        </p:nvSpPr>
        <p:spPr>
          <a:xfrm>
            <a:off x="8055864" y="21031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06640" y="2834640"/>
            <a:ext cx="1865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Aido Rover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7406640" y="3291840"/>
            <a:ext cx="186537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patrol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616952" y="3730752"/>
            <a:ext cx="1444752" cy="0"/>
          </a:xfrm>
          <a:prstGeom prst="line">
            <a:avLst/>
          </a:prstGeom>
          <a:noFill/>
          <a:ln w="12700">
            <a:solidFill>
              <a:srgbClr val="D6DC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43216" y="3886200"/>
            <a:ext cx="179222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+ Planning + Fleet coord.
</a:t>
            </a:r>
            <a:r>
              <a:rPr lang="en-US" sz="9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 under changing conditions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9546336" y="1828800"/>
            <a:ext cx="2084832" cy="4160520"/>
          </a:xfrm>
          <a:prstGeom prst="roundRect">
            <a:avLst>
              <a:gd name="adj" fmla="val 3509"/>
            </a:avLst>
          </a:prstGeom>
          <a:solidFill>
            <a:srgbClr val="F4F6F8"/>
          </a:solidFill>
          <a:effectLst>
            <a:outerShdw blurRad="76200" dist="25400" dir="5400000" algn="bl" rotWithShape="0">
              <a:srgbClr val="1A2332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0305288" y="2103120"/>
            <a:ext cx="566928" cy="566928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35" name="Text 33"/>
          <p:cNvSpPr/>
          <p:nvPr/>
        </p:nvSpPr>
        <p:spPr>
          <a:xfrm>
            <a:off x="10305288" y="210312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656064" y="2834640"/>
            <a:ext cx="1865376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Aido Humanoid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9656064" y="3291840"/>
            <a:ext cx="1865376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General-purpose bipedal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9866376" y="3730752"/>
            <a:ext cx="1444752" cy="0"/>
          </a:xfrm>
          <a:prstGeom prst="line">
            <a:avLst/>
          </a:prstGeom>
          <a:noFill/>
          <a:ln w="12700">
            <a:solidFill>
              <a:srgbClr val="D6DCE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92640" y="3886200"/>
            <a:ext cx="1792224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9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TYPE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/ policy control (GRPO)
</a:t>
            </a:r>
            <a:r>
              <a:rPr lang="en-US" sz="9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CONSTRAINT
</a:t>
            </a:r>
            <a:r>
              <a:rPr lang="en-US" sz="11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physical safety, &lt;2ms e-stop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ARCHITECTURE HYPOTHESIS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OpenClaw → PIC 2.0 Bridge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10789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working hypothesis (per the internship Concepts Primer), not a confirmed InGen internal architecture.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1064240" cy="457200"/>
          </a:xfrm>
          <a:prstGeom prst="roundRect">
            <a:avLst>
              <a:gd name="adj" fmla="val 8000"/>
            </a:avLst>
          </a:prstGeom>
          <a:solidFill>
            <a:srgbClr val="1A2332"/>
          </a:solidFill>
        </p:spPr>
      </p:sp>
      <p:sp>
        <p:nvSpPr>
          <p:cNvPr id="6" name="Text 4"/>
          <p:cNvSpPr/>
          <p:nvPr/>
        </p:nvSpPr>
        <p:spPr>
          <a:xfrm>
            <a:off x="731520" y="1810512"/>
            <a:ext cx="1463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2.0 MODEL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286000" y="1810512"/>
            <a:ext cx="23774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OPENCLAW COMPONENT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0" y="1810512"/>
            <a:ext cx="53949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241280" y="1810512"/>
            <a:ext cx="1371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HTD-IRL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228600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286000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decompose a high-level goal into ordered sub-tasks.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378440" y="2409444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4A9B8E"/>
          </a:solidFill>
        </p:spPr>
      </p:sp>
      <p:sp>
        <p:nvSpPr>
          <p:cNvPr id="14" name="Text 12"/>
          <p:cNvSpPr/>
          <p:nvPr/>
        </p:nvSpPr>
        <p:spPr>
          <a:xfrm>
            <a:off x="10378440" y="2409444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11064240" cy="594360"/>
          </a:xfrm>
          <a:prstGeom prst="rect">
            <a:avLst/>
          </a:prstGeom>
          <a:solidFill>
            <a:srgbClr val="F4F6F8"/>
          </a:solidFill>
        </p:spPr>
      </p:sp>
      <p:sp>
        <p:nvSpPr>
          <p:cNvPr id="16" name="Text 14"/>
          <p:cNvSpPr/>
          <p:nvPr/>
        </p:nvSpPr>
        <p:spPr>
          <a:xfrm>
            <a:off x="731520" y="288036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SEOM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286000" y="288036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retrieval 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0" y="2880360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ground decisions in retrieved, semantically related evidence.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378440" y="3003804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3D5A80"/>
          </a:solidFill>
        </p:spPr>
      </p:sp>
      <p:sp>
        <p:nvSpPr>
          <p:cNvPr id="20" name="Text 18"/>
          <p:cNvSpPr/>
          <p:nvPr/>
        </p:nvSpPr>
        <p:spPr>
          <a:xfrm>
            <a:off x="10378440" y="3003804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347472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286000" y="347472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 / analysis agent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754880" y="3474720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turn a changing input stream into a structured signal.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378440" y="3598164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3D5A80"/>
          </a:solidFill>
        </p:spPr>
      </p:sp>
      <p:sp>
        <p:nvSpPr>
          <p:cNvPr id="25" name="Text 23"/>
          <p:cNvSpPr/>
          <p:nvPr/>
        </p:nvSpPr>
        <p:spPr>
          <a:xfrm>
            <a:off x="10378440" y="3598164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069080"/>
            <a:ext cx="11064240" cy="594360"/>
          </a:xfrm>
          <a:prstGeom prst="rect">
            <a:avLst/>
          </a:prstGeom>
          <a:solidFill>
            <a:srgbClr val="F4F6F8"/>
          </a:solidFill>
        </p:spPr>
      </p:sp>
      <p:sp>
        <p:nvSpPr>
          <p:cNvPr id="27" name="Text 25"/>
          <p:cNvSpPr/>
          <p:nvPr/>
        </p:nvSpPr>
        <p:spPr>
          <a:xfrm>
            <a:off x="731520" y="406908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AMDC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286000" y="406908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+ Critic agents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754880" y="4069080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gate outputs against risk / safety / action boundaries.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0378440" y="4192524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3D5A80"/>
          </a:solidFill>
        </p:spPr>
      </p:sp>
      <p:sp>
        <p:nvSpPr>
          <p:cNvPr id="31" name="Text 29"/>
          <p:cNvSpPr/>
          <p:nvPr/>
        </p:nvSpPr>
        <p:spPr>
          <a:xfrm>
            <a:off x="10378440" y="4192524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466344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CRL-MRS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86000" y="466344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agent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754880" y="4663440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“many-to-one” shape; real-time robot coordination is harder.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378440" y="4786884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EE6C4D"/>
          </a:solidFill>
        </p:spPr>
      </p:sp>
      <p:sp>
        <p:nvSpPr>
          <p:cNvPr id="36" name="Text 34"/>
          <p:cNvSpPr/>
          <p:nvPr/>
        </p:nvSpPr>
        <p:spPr>
          <a:xfrm>
            <a:off x="10378440" y="4786884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" y="5257800"/>
            <a:ext cx="11064240" cy="594360"/>
          </a:xfrm>
          <a:prstGeom prst="rect">
            <a:avLst/>
          </a:prstGeom>
          <a:solidFill>
            <a:srgbClr val="F4F6F8"/>
          </a:solidFill>
        </p:spPr>
      </p:sp>
      <p:sp>
        <p:nvSpPr>
          <p:cNvPr id="38" name="Text 36"/>
          <p:cNvSpPr/>
          <p:nvPr/>
        </p:nvSpPr>
        <p:spPr>
          <a:xfrm>
            <a:off x="731520" y="5257800"/>
            <a:ext cx="1463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86000" y="5257800"/>
            <a:ext cx="23774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confident mapping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754880" y="5257800"/>
            <a:ext cx="53949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Primer doesn’t define it clearly enough to commit.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0378440" y="5381244"/>
            <a:ext cx="1097280" cy="347472"/>
          </a:xfrm>
          <a:prstGeom prst="roundRect">
            <a:avLst>
              <a:gd name="adj" fmla="val 50000"/>
            </a:avLst>
          </a:prstGeom>
          <a:solidFill>
            <a:srgbClr val="9AA5B1"/>
          </a:solidFill>
        </p:spPr>
      </p:sp>
      <p:sp>
        <p:nvSpPr>
          <p:cNvPr id="42" name="Text 40"/>
          <p:cNvSpPr/>
          <p:nvPr/>
        </p:nvSpPr>
        <p:spPr>
          <a:xfrm>
            <a:off x="10378440" y="5381244"/>
            <a:ext cx="10972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· HEADLINE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Readings of SEOM / AMDC / STUM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4F6F8"/>
          </a:solidFill>
        </p:spPr>
      </p:sp>
      <p:sp>
        <p:nvSpPr>
          <p:cNvPr id="5" name="Text 3"/>
          <p:cNvSpPr/>
          <p:nvPr/>
        </p:nvSpPr>
        <p:spPr>
          <a:xfrm>
            <a:off x="822960" y="17830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PRODUCT PAGES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66344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“SEOM λ=10.0”, “12 safety rules labeled there under SEOM”
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Fari, Senpai, Sentinel, and Humanoid pages all use SEOM / AMDC / STUM as </a:t>
            </a: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for safety-rule counts and pipeline stages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like Sentinel’s Sense → Classify → Gate → Act flow.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35040" y="155448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1A2332"/>
          </a:solidFill>
        </p:spPr>
      </p:sp>
      <p:sp>
        <p:nvSpPr>
          <p:cNvPr id="8" name="Text 6"/>
          <p:cNvSpPr/>
          <p:nvPr/>
        </p:nvSpPr>
        <p:spPr>
          <a:xfrm>
            <a:off x="6309360" y="1783080"/>
            <a:ext cx="45720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CONCEPTS PRIMER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09360" y="2148840"/>
            <a:ext cx="4663440" cy="23774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SEOM = “likely semantic / embedding-oriented”
</a:t>
            </a:r>
            <a:r>
              <a:rPr lang="en-US" sz="13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Primer’s working definitions (used for the OpenClaw bridge) describe SEOM, STUM, AMDC, and HTD-IRL as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AI/RL research concepts</a:t>
            </a:r>
            <a:r>
              <a:rPr lang="en-US" sz="13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safety rule counters.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EDGE-CONSTRAINED NN CLASSIFIER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Classifier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5" name="Text 3"/>
          <p:cNvSpPr/>
          <p:nvPr/>
        </p:nvSpPr>
        <p:spPr>
          <a:xfrm>
            <a:off x="548640" y="1920240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883664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Synthetic 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25880" y="2249424"/>
            <a:ext cx="39776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 windows (1,000/class, confirmed with the supervisor). 30 timesteps × 7 features, matching AURA’s 210 dim shape.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999232"/>
            <a:ext cx="566928" cy="566928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9" name="Text 7"/>
          <p:cNvSpPr/>
          <p:nvPr/>
        </p:nvSpPr>
        <p:spPr>
          <a:xfrm>
            <a:off x="548640" y="2999232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962656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operating modes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3328416"/>
            <a:ext cx="39776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 / ALERT / CHARGING / FAULT. AR(1) sensor traces plus measurement and label noise, so it’s not too easy to classify.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078224"/>
            <a:ext cx="566928" cy="566928"/>
          </a:xfrm>
          <a:prstGeom prst="ellipse">
            <a:avLst/>
          </a:prstGeom>
          <a:solidFill>
            <a:srgbClr val="EE6C4D"/>
          </a:solidFill>
        </p:spPr>
      </p:sp>
      <p:sp>
        <p:nvSpPr>
          <p:cNvPr id="13" name="Text 11"/>
          <p:cNvSpPr/>
          <p:nvPr/>
        </p:nvSpPr>
        <p:spPr>
          <a:xfrm>
            <a:off x="548640" y="4078224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4041648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Feedforward NN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25880" y="4407408"/>
            <a:ext cx="39776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→ 64 → 32 → 4. Chosen over 1D-CNN: post-training INT8 quantization of a pure Linear stack is the most reliable PyTorch path.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17" name="Text 15"/>
          <p:cNvSpPr/>
          <p:nvPr/>
        </p:nvSpPr>
        <p:spPr>
          <a:xfrm>
            <a:off x="548640" y="5157216"/>
            <a:ext cx="566928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5120640"/>
            <a:ext cx="39319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anchor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25880" y="5486400"/>
            <a:ext cx="3977640" cy="7132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Aido Rover (IMU / motor current / proximity) and Sentinel Prime AI’s edge-classification role.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1828800"/>
            <a:ext cx="5806440" cy="4526280"/>
          </a:xfrm>
          <a:prstGeom prst="roundRect">
            <a:avLst>
              <a:gd name="adj" fmla="val 2020"/>
            </a:avLst>
          </a:prstGeom>
          <a:solidFill>
            <a:srgbClr val="1A2332"/>
          </a:solidFill>
        </p:spPr>
      </p:sp>
      <p:sp>
        <p:nvSpPr>
          <p:cNvPr id="21" name="Text 19"/>
          <p:cNvSpPr/>
          <p:nvPr/>
        </p:nvSpPr>
        <p:spPr>
          <a:xfrm>
            <a:off x="6126480" y="2057400"/>
            <a:ext cx="5120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 (MIRRORS AURA)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26480" y="2596896"/>
            <a:ext cx="82296" cy="82296"/>
          </a:xfrm>
          <a:prstGeom prst="ellipse">
            <a:avLst/>
          </a:prstGeom>
          <a:solidFill>
            <a:srgbClr val="4A9B8E"/>
          </a:solidFill>
        </p:spPr>
      </p:sp>
      <p:sp>
        <p:nvSpPr>
          <p:cNvPr id="23" name="Text 21"/>
          <p:cNvSpPr/>
          <p:nvPr/>
        </p:nvSpPr>
        <p:spPr>
          <a:xfrm>
            <a:off x="6355080" y="2514600"/>
            <a:ext cx="5074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imu_accel_mag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26480" y="3054096"/>
            <a:ext cx="82296" cy="82296"/>
          </a:xfrm>
          <a:prstGeom prst="ellipse">
            <a:avLst/>
          </a:prstGeom>
          <a:solidFill>
            <a:srgbClr val="4A9B8E"/>
          </a:solidFill>
        </p:spPr>
      </p:sp>
      <p:sp>
        <p:nvSpPr>
          <p:cNvPr id="25" name="Text 23"/>
          <p:cNvSpPr/>
          <p:nvPr/>
        </p:nvSpPr>
        <p:spPr>
          <a:xfrm>
            <a:off x="6355080" y="2971800"/>
            <a:ext cx="5074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imu_gyro_mag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26480" y="3511296"/>
            <a:ext cx="82296" cy="82296"/>
          </a:xfrm>
          <a:prstGeom prst="ellipse">
            <a:avLst/>
          </a:prstGeom>
          <a:solidFill>
            <a:srgbClr val="4A9B8E"/>
          </a:solidFill>
        </p:spPr>
      </p:sp>
      <p:sp>
        <p:nvSpPr>
          <p:cNvPr id="27" name="Text 25"/>
          <p:cNvSpPr/>
          <p:nvPr/>
        </p:nvSpPr>
        <p:spPr>
          <a:xfrm>
            <a:off x="6355080" y="3429000"/>
            <a:ext cx="5074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motor_current_left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26480" y="3968496"/>
            <a:ext cx="82296" cy="82296"/>
          </a:xfrm>
          <a:prstGeom prst="ellipse">
            <a:avLst/>
          </a:prstGeom>
          <a:solidFill>
            <a:srgbClr val="4A9B8E"/>
          </a:solidFill>
        </p:spPr>
      </p:sp>
      <p:sp>
        <p:nvSpPr>
          <p:cNvPr id="29" name="Text 27"/>
          <p:cNvSpPr/>
          <p:nvPr/>
        </p:nvSpPr>
        <p:spPr>
          <a:xfrm>
            <a:off x="6355080" y="3886200"/>
            <a:ext cx="5074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motor_current_right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26480" y="4425696"/>
            <a:ext cx="82296" cy="82296"/>
          </a:xfrm>
          <a:prstGeom prst="ellipse">
            <a:avLst/>
          </a:prstGeom>
          <a:solidFill>
            <a:srgbClr val="4A9B8E"/>
          </a:solidFill>
        </p:spPr>
      </p:sp>
      <p:sp>
        <p:nvSpPr>
          <p:cNvPr id="31" name="Text 29"/>
          <p:cNvSpPr/>
          <p:nvPr/>
        </p:nvSpPr>
        <p:spPr>
          <a:xfrm>
            <a:off x="6355080" y="4343400"/>
            <a:ext cx="5074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proximity_front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26480" y="4882896"/>
            <a:ext cx="82296" cy="82296"/>
          </a:xfrm>
          <a:prstGeom prst="ellipse">
            <a:avLst/>
          </a:prstGeom>
          <a:solidFill>
            <a:srgbClr val="4A9B8E"/>
          </a:solidFill>
        </p:spPr>
      </p:sp>
      <p:sp>
        <p:nvSpPr>
          <p:cNvPr id="33" name="Text 31"/>
          <p:cNvSpPr/>
          <p:nvPr/>
        </p:nvSpPr>
        <p:spPr>
          <a:xfrm>
            <a:off x="6355080" y="4800600"/>
            <a:ext cx="5074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proximity_rear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126480" y="5340096"/>
            <a:ext cx="82296" cy="82296"/>
          </a:xfrm>
          <a:prstGeom prst="ellipse">
            <a:avLst/>
          </a:prstGeom>
          <a:solidFill>
            <a:srgbClr val="4A9B8E"/>
          </a:solidFill>
        </p:spPr>
      </p:sp>
      <p:sp>
        <p:nvSpPr>
          <p:cNvPr id="35" name="Text 33"/>
          <p:cNvSpPr/>
          <p:nvPr/>
        </p:nvSpPr>
        <p:spPr>
          <a:xfrm>
            <a:off x="6355080" y="5257800"/>
            <a:ext cx="507492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motor_current_diff  (derived, mirrors AURA’s lux_diff/noise_diff)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26480" y="5806440"/>
            <a:ext cx="516636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26480" y="5897880"/>
            <a:ext cx="51663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AB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test split (70/15/15) is never used for training or hyperparameter tuning.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HELD-OUT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Results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</p:spPr>
      </p:sp>
      <p:sp>
        <p:nvSpPr>
          <p:cNvPr id="5" name="Text 3"/>
          <p:cNvSpPr/>
          <p:nvPr/>
        </p:nvSpPr>
        <p:spPr>
          <a:xfrm>
            <a:off x="548640" y="16916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E6C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45059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3756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</p:spPr>
      </p:sp>
      <p:sp>
        <p:nvSpPr>
          <p:cNvPr id="8" name="Text 6"/>
          <p:cNvSpPr/>
          <p:nvPr/>
        </p:nvSpPr>
        <p:spPr>
          <a:xfrm>
            <a:off x="3337560" y="16916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0.926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337560" y="245059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(macro)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2648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</p:spPr>
      </p:sp>
      <p:sp>
        <p:nvSpPr>
          <p:cNvPr id="11" name="Text 9"/>
          <p:cNvSpPr/>
          <p:nvPr/>
        </p:nvSpPr>
        <p:spPr>
          <a:xfrm>
            <a:off x="6126480" y="16916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0.925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245059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(macro)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15400" y="1600200"/>
            <a:ext cx="2606040" cy="1463040"/>
          </a:xfrm>
          <a:prstGeom prst="roundRect">
            <a:avLst>
              <a:gd name="adj" fmla="val 5000"/>
            </a:avLst>
          </a:prstGeom>
          <a:solidFill>
            <a:srgbClr val="F4F6F8"/>
          </a:solidFill>
        </p:spPr>
      </p:sp>
      <p:sp>
        <p:nvSpPr>
          <p:cNvPr id="14" name="Text 12"/>
          <p:cNvSpPr/>
          <p:nvPr/>
        </p:nvSpPr>
        <p:spPr>
          <a:xfrm>
            <a:off x="8915400" y="1691640"/>
            <a:ext cx="26060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0.925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8915400" y="2450592"/>
            <a:ext cx="2606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(macro)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3657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RECALL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3703320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0" y="3785616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3E8ED"/>
          </a:solidFill>
        </p:spPr>
      </p:sp>
      <p:sp>
        <p:nvSpPr>
          <p:cNvPr id="19" name="Shape 17"/>
          <p:cNvSpPr/>
          <p:nvPr/>
        </p:nvSpPr>
        <p:spPr>
          <a:xfrm>
            <a:off x="1828800" y="3785616"/>
            <a:ext cx="3048244" cy="292608"/>
          </a:xfrm>
          <a:prstGeom prst="roundRect">
            <a:avLst>
              <a:gd name="adj" fmla="val 50000"/>
            </a:avLst>
          </a:prstGeom>
          <a:solidFill>
            <a:srgbClr val="4A9B8E"/>
          </a:solidFill>
        </p:spPr>
      </p:sp>
      <p:sp>
        <p:nvSpPr>
          <p:cNvPr id="20" name="Text 18"/>
          <p:cNvSpPr/>
          <p:nvPr/>
        </p:nvSpPr>
        <p:spPr>
          <a:xfrm>
            <a:off x="5166360" y="3703320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4325112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0" y="4407408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3E8ED"/>
          </a:solidFill>
        </p:spPr>
      </p:sp>
      <p:sp>
        <p:nvSpPr>
          <p:cNvPr id="23" name="Shape 21"/>
          <p:cNvSpPr/>
          <p:nvPr/>
        </p:nvSpPr>
        <p:spPr>
          <a:xfrm>
            <a:off x="1828800" y="4407408"/>
            <a:ext cx="3117372" cy="292608"/>
          </a:xfrm>
          <a:prstGeom prst="roundRect">
            <a:avLst>
              <a:gd name="adj" fmla="val 50000"/>
            </a:avLst>
          </a:prstGeom>
          <a:solidFill>
            <a:srgbClr val="4A9B8E"/>
          </a:solidFill>
        </p:spPr>
      </p:sp>
      <p:sp>
        <p:nvSpPr>
          <p:cNvPr id="24" name="Text 22"/>
          <p:cNvSpPr/>
          <p:nvPr/>
        </p:nvSpPr>
        <p:spPr>
          <a:xfrm>
            <a:off x="5166360" y="4325112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4946904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828800" y="5029200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3E8ED"/>
          </a:solidFill>
        </p:spPr>
      </p:sp>
      <p:sp>
        <p:nvSpPr>
          <p:cNvPr id="27" name="Shape 25"/>
          <p:cNvSpPr/>
          <p:nvPr/>
        </p:nvSpPr>
        <p:spPr>
          <a:xfrm>
            <a:off x="1828800" y="5029200"/>
            <a:ext cx="3051536" cy="292608"/>
          </a:xfrm>
          <a:prstGeom prst="roundRect">
            <a:avLst>
              <a:gd name="adj" fmla="val 50000"/>
            </a:avLst>
          </a:prstGeom>
          <a:solidFill>
            <a:srgbClr val="4A9B8E"/>
          </a:solidFill>
        </p:spPr>
      </p:sp>
      <p:sp>
        <p:nvSpPr>
          <p:cNvPr id="28" name="Text 26"/>
          <p:cNvSpPr/>
          <p:nvPr/>
        </p:nvSpPr>
        <p:spPr>
          <a:xfrm>
            <a:off x="5166360" y="4946904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568696"/>
            <a:ext cx="11887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828800" y="5650992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E3E8ED"/>
          </a:solidFill>
        </p:spPr>
      </p:sp>
      <p:sp>
        <p:nvSpPr>
          <p:cNvPr id="31" name="Shape 29"/>
          <p:cNvSpPr/>
          <p:nvPr/>
        </p:nvSpPr>
        <p:spPr>
          <a:xfrm>
            <a:off x="1828800" y="5650992"/>
            <a:ext cx="2962656" cy="292608"/>
          </a:xfrm>
          <a:prstGeom prst="roundRect">
            <a:avLst>
              <a:gd name="adj" fmla="val 50000"/>
            </a:avLst>
          </a:prstGeom>
          <a:solidFill>
            <a:srgbClr val="EE6C4D"/>
          </a:solidFill>
        </p:spPr>
      </p:sp>
      <p:sp>
        <p:nvSpPr>
          <p:cNvPr id="32" name="Text 30"/>
          <p:cNvSpPr/>
          <p:nvPr/>
        </p:nvSpPr>
        <p:spPr>
          <a:xfrm>
            <a:off x="5166360" y="5568696"/>
            <a:ext cx="640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0.900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26480" y="3337560"/>
            <a:ext cx="5486400" cy="2788920"/>
          </a:xfrm>
          <a:prstGeom prst="roundRect">
            <a:avLst>
              <a:gd name="adj" fmla="val 3279"/>
            </a:avLst>
          </a:prstGeom>
          <a:solidFill>
            <a:srgbClr val="1A2332"/>
          </a:solidFill>
        </p:spPr>
      </p:sp>
      <p:sp>
        <p:nvSpPr>
          <p:cNvPr id="34" name="Text 32"/>
          <p:cNvSpPr/>
          <p:nvPr/>
        </p:nvSpPr>
        <p:spPr>
          <a:xfrm>
            <a:off x="6400800" y="3566160"/>
            <a:ext cx="4937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AT 4,000 SAMPLES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00800" y="3977640"/>
            <a:ext cx="49377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87.22% → 92.50% </a:t>
            </a:r>
            <a:r>
              <a:rPr lang="en-US" sz="13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after scaling from 1,200 to 4,000 samples (1,000/class, per supervisor guidance).
</a:t>
            </a: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0.717 → 0.900 </a:t>
            </a:r>
            <a:r>
              <a:rPr lang="en-US" sz="130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class recall. Makes sense: that’s the class defined by irregularity, so it benefits most from seeing more examples of what “irregular” looks like.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POST-TRAINING INT8 QUANTIZATION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Quantization Made It Smaller, Not Faster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4F6F8"/>
          </a:solidFill>
        </p:spPr>
      </p:sp>
      <p:sp>
        <p:nvSpPr>
          <p:cNvPr id="5" name="Shape 3"/>
          <p:cNvSpPr/>
          <p:nvPr/>
        </p:nvSpPr>
        <p:spPr>
          <a:xfrm>
            <a:off x="548640" y="16916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3D5A80"/>
          </a:solidFill>
        </p:spPr>
      </p:sp>
      <p:sp>
        <p:nvSpPr>
          <p:cNvPr id="6" name="Shape 4"/>
          <p:cNvSpPr/>
          <p:nvPr/>
        </p:nvSpPr>
        <p:spPr>
          <a:xfrm>
            <a:off x="548640" y="1947672"/>
            <a:ext cx="2743200" cy="246888"/>
          </a:xfrm>
          <a:prstGeom prst="rect">
            <a:avLst/>
          </a:prstGeom>
          <a:solidFill>
            <a:srgbClr val="3D5A80"/>
          </a:solidFill>
        </p:spPr>
      </p:sp>
      <p:sp>
        <p:nvSpPr>
          <p:cNvPr id="7" name="Text 5"/>
          <p:cNvSpPr/>
          <p:nvPr/>
        </p:nvSpPr>
        <p:spPr>
          <a:xfrm>
            <a:off x="548640" y="16916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FP32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4231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679192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92.50%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(mean)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3456432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0.035 ms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4233672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0.066 MB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566160" y="1691640"/>
            <a:ext cx="2743200" cy="3017520"/>
          </a:xfrm>
          <a:prstGeom prst="roundRect">
            <a:avLst>
              <a:gd name="adj" fmla="val 3333"/>
            </a:avLst>
          </a:prstGeom>
          <a:solidFill>
            <a:srgbClr val="F4F6F8"/>
          </a:solidFill>
        </p:spPr>
      </p:sp>
      <p:sp>
        <p:nvSpPr>
          <p:cNvPr id="15" name="Shape 13"/>
          <p:cNvSpPr/>
          <p:nvPr/>
        </p:nvSpPr>
        <p:spPr>
          <a:xfrm>
            <a:off x="3566160" y="169164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EE6C4D"/>
          </a:solidFill>
        </p:spPr>
      </p:sp>
      <p:sp>
        <p:nvSpPr>
          <p:cNvPr id="16" name="Shape 14"/>
          <p:cNvSpPr/>
          <p:nvPr/>
        </p:nvSpPr>
        <p:spPr>
          <a:xfrm>
            <a:off x="3566160" y="1947672"/>
            <a:ext cx="2743200" cy="246888"/>
          </a:xfrm>
          <a:prstGeom prst="rect">
            <a:avLst/>
          </a:prstGeom>
          <a:solidFill>
            <a:srgbClr val="EE6C4D"/>
          </a:solidFill>
        </p:spPr>
      </p:sp>
      <p:sp>
        <p:nvSpPr>
          <p:cNvPr id="17" name="Text 15"/>
          <p:cNvSpPr/>
          <p:nvPr/>
        </p:nvSpPr>
        <p:spPr>
          <a:xfrm>
            <a:off x="3566160" y="1691640"/>
            <a:ext cx="27432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INT8 (dynamic PTQ)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49040" y="242316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749040" y="2679192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92.33%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3749040" y="320040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(mean)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749040" y="3456432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0.875 ms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3749040" y="3977640"/>
            <a:ext cx="237744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size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749040" y="4233672"/>
            <a:ext cx="2377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0.021 MB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583680" y="1783080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− 0.17pp 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accuracy. Small, real cost, not free
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583680" y="2514600"/>
            <a:ext cx="50292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25× slower. 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quantization’s runtime overhead dominates on a network this small at batch=1
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6583680" y="3337560"/>
            <a:ext cx="50292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4A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68.6% smaller. </a:t>
            </a:r>
            <a:r>
              <a:rPr lang="en-US" sz="13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the one real win here
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583680" y="4160520"/>
            <a:ext cx="5074920" cy="1508760"/>
          </a:xfrm>
          <a:prstGeom prst="roundRect">
            <a:avLst>
              <a:gd name="adj" fmla="val 6061"/>
            </a:avLst>
          </a:prstGeom>
          <a:solidFill>
            <a:srgbClr val="1A2332"/>
          </a:solidFill>
        </p:spPr>
      </p:sp>
      <p:sp>
        <p:nvSpPr>
          <p:cNvPr id="28" name="Text 26"/>
          <p:cNvSpPr/>
          <p:nvPr/>
        </p:nvSpPr>
        <p:spPr>
          <a:xfrm>
            <a:off x="6858000" y="4343400"/>
            <a:ext cx="452628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ship INT8 anyway. </a:t>
            </a:r>
            <a:r>
              <a:rPr lang="en-US" sz="1250" dirty="0">
                <a:solidFill>
                  <a:srgbClr val="D7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configs clear the 20ms budget by over 20x, so the deciding factor is memory, not speed. Sentinel’s own spec runs a 5-model ensemble on one Jetson.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4937760"/>
            <a:ext cx="557784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20ms edge latency budget. Both configurations clear it comfortably (FP32 by ~578x, INT8 by ~23x).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Connects to Prior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93008" cy="4206240"/>
          </a:xfrm>
          <a:prstGeom prst="roundRect">
            <a:avLst>
              <a:gd name="adj" fmla="val 2618"/>
            </a:avLst>
          </a:prstGeom>
          <a:solidFill>
            <a:srgbClr val="F4F6F8"/>
          </a:solidFill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3D5A80"/>
          </a:solidFill>
        </p:spPr>
      </p:sp>
      <p:sp>
        <p:nvSpPr>
          <p:cNvPr id="6" name="Text 4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212848"/>
            <a:ext cx="221284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OpenClaw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2944368" cy="0"/>
          </a:xfrm>
          <a:prstGeom prst="line">
            <a:avLst/>
          </a:prstGeom>
          <a:noFill/>
          <a:ln w="12700">
            <a:solidFill>
              <a:srgbClr val="D6DC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2944368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Routing/decomposition (Planner) and safety-gating (Critic) transfer directly to PIC 2.0’s HTD-IRL and governance patterns. No RL trained policy, so GRPO stays an open gap for me.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42816" y="1828800"/>
            <a:ext cx="3493008" cy="4206240"/>
          </a:xfrm>
          <a:prstGeom prst="roundRect">
            <a:avLst>
              <a:gd name="adj" fmla="val 2618"/>
            </a:avLst>
          </a:prstGeom>
          <a:solidFill>
            <a:srgbClr val="F4F6F8"/>
          </a:solidFill>
        </p:spPr>
      </p:sp>
      <p:sp>
        <p:nvSpPr>
          <p:cNvPr id="11" name="Shape 9"/>
          <p:cNvSpPr/>
          <p:nvPr/>
        </p:nvSpPr>
        <p:spPr>
          <a:xfrm>
            <a:off x="4517136" y="2148840"/>
            <a:ext cx="640080" cy="640080"/>
          </a:xfrm>
          <a:prstGeom prst="ellipse">
            <a:avLst/>
          </a:prstGeom>
          <a:solidFill>
            <a:srgbClr val="4A9B8E"/>
          </a:solidFill>
        </p:spPr>
      </p:sp>
      <p:sp>
        <p:nvSpPr>
          <p:cNvPr id="12" name="Text 10"/>
          <p:cNvSpPr/>
          <p:nvPr/>
        </p:nvSpPr>
        <p:spPr>
          <a:xfrm>
            <a:off x="4517136" y="21488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0096" y="2212848"/>
            <a:ext cx="221284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AURA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4517136" y="2971800"/>
            <a:ext cx="2944368" cy="0"/>
          </a:xfrm>
          <a:prstGeom prst="line">
            <a:avLst/>
          </a:prstGeom>
          <a:noFill/>
          <a:ln w="12700">
            <a:solidFill>
              <a:srgbClr val="D6DC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17136" y="3154680"/>
            <a:ext cx="2944368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Windowing and the lightweight-classifier approach carry over directly. This task adds what AURA’s live pipeline never had: held out eval, per class metrics, quantization, and a latency benchmark.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36992" y="1828800"/>
            <a:ext cx="3493008" cy="4206240"/>
          </a:xfrm>
          <a:prstGeom prst="roundRect">
            <a:avLst>
              <a:gd name="adj" fmla="val 2618"/>
            </a:avLst>
          </a:prstGeom>
          <a:solidFill>
            <a:srgbClr val="F4F6F8"/>
          </a:solidFill>
        </p:spPr>
      </p:sp>
      <p:sp>
        <p:nvSpPr>
          <p:cNvPr id="17" name="Shape 15"/>
          <p:cNvSpPr/>
          <p:nvPr/>
        </p:nvSpPr>
        <p:spPr>
          <a:xfrm>
            <a:off x="8211312" y="2148840"/>
            <a:ext cx="640080" cy="640080"/>
          </a:xfrm>
          <a:prstGeom prst="ellipse">
            <a:avLst/>
          </a:prstGeom>
          <a:solidFill>
            <a:srgbClr val="EE6C4D"/>
          </a:solidFill>
        </p:spPr>
      </p:sp>
      <p:sp>
        <p:nvSpPr>
          <p:cNvPr id="18" name="Text 16"/>
          <p:cNvSpPr/>
          <p:nvPr/>
        </p:nvSpPr>
        <p:spPr>
          <a:xfrm>
            <a:off x="8211312" y="21488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34272" y="2212848"/>
            <a:ext cx="221284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Psychologist Agent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211312" y="2971800"/>
            <a:ext cx="2944368" cy="0"/>
          </a:xfrm>
          <a:prstGeom prst="line">
            <a:avLst/>
          </a:prstGeom>
          <a:noFill/>
          <a:ln w="12700">
            <a:solidFill>
              <a:srgbClr val="D6DC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11312" y="3154680"/>
            <a:ext cx="2944368" cy="21945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was a requirement there (16GB → 4.6GB to fit an 8GB GPU). Here it’s optional, since the classifier was already tiny and already fast. Same technique, but for a different reason.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ACCOUNTING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Open Questions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EE6C4D"/>
          </a:solidFill>
        </p:spPr>
      </p:sp>
      <p:sp>
        <p:nvSpPr>
          <p:cNvPr id="5" name="Text 3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783080"/>
            <a:ext cx="10241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GRPO, CRL-MRS, AMDC mappings are weak or unconfirmed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2176272"/>
            <a:ext cx="10241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 doc leaves GRPO unmapped rather than forcing a match, since the Concepts Primer doesn’t define it precisely enough.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EE6C4D"/>
          </a:solidFill>
        </p:spPr>
      </p:sp>
      <p:sp>
        <p:nvSpPr>
          <p:cNvPr id="9" name="Text 7"/>
          <p:cNvSpPr/>
          <p:nvPr/>
        </p:nvSpPr>
        <p:spPr>
          <a:xfrm>
            <a:off x="548640" y="28803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834640"/>
            <a:ext cx="10241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Terminology conflict isn’t resolved, just kept separate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3227832"/>
            <a:ext cx="10241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pages and the Concepts Primer use SEOM/AMDC/STUM differently. I’m reporting both readings rather than merging them into one answer.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EE6C4D"/>
          </a:solidFill>
        </p:spPr>
      </p:sp>
      <p:sp>
        <p:nvSpPr>
          <p:cNvPr id="13" name="Text 11"/>
          <p:cNvSpPr/>
          <p:nvPr/>
        </p:nvSpPr>
        <p:spPr>
          <a:xfrm>
            <a:off x="548640" y="39319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886200"/>
            <a:ext cx="10241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Classifier trained on synthetic data, not real Aido Rover logs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279392"/>
            <a:ext cx="10241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AR(1)-generated sensor traces, not field telemetry. Realistic by design, but not validated against real hardware yet.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EE6C4D"/>
          </a:solidFill>
        </p:spPr>
      </p:sp>
      <p:sp>
        <p:nvSpPr>
          <p:cNvPr id="17" name="Text 15"/>
          <p:cNvSpPr/>
          <p:nvPr/>
        </p:nvSpPr>
        <p:spPr>
          <a:xfrm>
            <a:off x="548640" y="498348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937760"/>
            <a:ext cx="102412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“Slower, not faster” may not generalize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34440" y="5330952"/>
            <a:ext cx="1024128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AEBB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result is specific to a 17K-parameter toy network; Sentinel’s actual ensemble models are almost certainly larger, where quantization typically helps latency too.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E6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212C40"/>
          </a:solidFill>
        </p:spPr>
      </p:sp>
      <p:sp>
        <p:nvSpPr>
          <p:cNvPr id="5" name="Shape 3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EE6C4D"/>
          </a:solidFill>
        </p:spPr>
      </p:sp>
      <p:sp>
        <p:nvSpPr>
          <p:cNvPr id="6" name="Text 4"/>
          <p:cNvSpPr/>
          <p:nvPr/>
        </p:nvSpPr>
        <p:spPr>
          <a:xfrm>
            <a:off x="822960" y="21031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2121408"/>
            <a:ext cx="3977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&amp; RAG for Companion Dialogue Safety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017520"/>
            <a:ext cx="4617720" cy="2148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fine-tune (DPO) on a small open model, for Fari’s eldercare dialogue safety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RAG pipeline grounded in eldercare communication guidance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safety/escalation check, since RAG retrieval alone isn’t reliable enough for that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828800"/>
            <a:ext cx="5257800" cy="3566160"/>
          </a:xfrm>
          <a:prstGeom prst="roundRect">
            <a:avLst>
              <a:gd name="adj" fmla="val 2564"/>
            </a:avLst>
          </a:prstGeom>
          <a:solidFill>
            <a:srgbClr val="212C40"/>
          </a:solidFill>
        </p:spPr>
      </p:sp>
      <p:sp>
        <p:nvSpPr>
          <p:cNvPr id="10" name="Shape 8"/>
          <p:cNvSpPr/>
          <p:nvPr/>
        </p:nvSpPr>
        <p:spPr>
          <a:xfrm>
            <a:off x="6446520" y="2103120"/>
            <a:ext cx="594360" cy="594360"/>
          </a:xfrm>
          <a:prstGeom prst="ellipse">
            <a:avLst/>
          </a:prstGeom>
          <a:solidFill>
            <a:srgbClr val="EE6C4D"/>
          </a:solidFill>
        </p:spPr>
      </p:sp>
      <p:sp>
        <p:nvSpPr>
          <p:cNvPr id="11" name="Text 9"/>
          <p:cNvSpPr/>
          <p:nvPr/>
        </p:nvSpPr>
        <p:spPr>
          <a:xfrm>
            <a:off x="6446520" y="2103120"/>
            <a:ext cx="59436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23760" y="2121408"/>
            <a:ext cx="397764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Capstone Synthesis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92240" y="3017520"/>
            <a:ext cx="4617720" cy="2148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 page report + executive deck spanning all three tracks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Per-platform recommendations grounded in Weeks 1–3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narrative: what this body of work supports for ML roles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11064240" cy="0"/>
          </a:xfrm>
          <a:prstGeom prst="line">
            <a:avLst/>
          </a:prstGeom>
          <a:noFill/>
          <a:ln w="12700">
            <a:solidFill>
              <a:srgbClr val="3D5A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760720"/>
            <a:ext cx="54864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30000" y="6510528"/>
            <a:ext cx="640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6437</Words>
  <Application>WPS Docs</Application>
  <PresentationFormat>On-screen Show (16:9)</PresentationFormat>
  <Paragraphs>358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Helvetica Neue</vt:lpstr>
      <vt:lpstr>Calibri</vt:lpstr>
      <vt:lpstr>Calibri</vt:lpstr>
      <vt:lpstr>Cambria</vt:lpstr>
      <vt:lpstr>Cambria</vt:lpstr>
      <vt:lpstr>Cambria</vt:lpstr>
      <vt:lpstr>苹方-简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Kevin Sun</cp:lastModifiedBy>
  <cp:revision>3</cp:revision>
  <dcterms:created xsi:type="dcterms:W3CDTF">2026-07-25T01:36:43Z</dcterms:created>
  <dcterms:modified xsi:type="dcterms:W3CDTF">2026-07-25T01:36:43Z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D118EF01BBD71A062B13646A59467A1C_43</vt:lpwstr>
  </property>
  <property fmtid="{D5CDD505-2E9C-101B-9397-08002B2CF9AE}" pid="3" name="KSOProductBuildVer">
    <vt:lpwstr>1033-12.1.26035.26035</vt:lpwstr>
  </property>
</Properties>
</file>
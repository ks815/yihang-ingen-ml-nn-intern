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Arial" panose="020B0604020202090204"/>
              </a:rPr>
              <a:t>Mean latency (ms), 200 warm-up-free runs</a:t>
            </a:r>
            <a:endParaRPr sz="1200" b="0" i="0" u="none" strike="noStrike">
              <a:solidFill>
                <a:srgbClr val="000000"/>
              </a:solidFill>
              <a:latin typeface="Arial" panose="020B0604020202090204"/>
            </a:endParaRP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Latency (ms, log-scale gap)</c:v>
                </c:pt>
              </c:strCache>
            </c:strRef>
          </c:tx>
          <c:spPr>
            <a:solidFill>
              <a:srgbClr val="3E6E8E"/>
            </a:solidFill>
            <a:effectLst/>
          </c:spPr>
          <c:invertIfNegative val="0"/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000" b="0" i="0" u="none" strike="noStrike" kern="1200" baseline="0">
                    <a:solidFill>
                      <a:srgbClr val="000000"/>
                    </a:solidFill>
                    <a:latin typeface="Arial" panose="020B060402020209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FP32</c:v>
                </c:pt>
                <c:pt idx="1">
                  <c:v>INT8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0.0346</c:v>
                </c:pt>
                <c:pt idx="1">
                  <c:v>0.8748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16253D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 cmpd="sng" algn="ctr">
              <a:solidFill>
                <a:srgbClr val="E5E9ED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16253D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83b546af-dff8-476c-83b6-deff69499968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Arial" panose="020B0604020202090204"/>
              </a:rPr>
              <a:t>QLoRA/DPO ablation — final eval loss (Qwen2.5-1.5B)</a:t>
            </a:r>
            <a:endParaRPr sz="1200" b="0" i="0" u="none" strike="noStrike">
              <a:solidFill>
                <a:srgbClr val="000000"/>
              </a:solidFill>
              <a:latin typeface="Arial" panose="020B0604020202090204"/>
            </a:endParaRP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Final eval loss</c:v>
                </c:pt>
              </c:strCache>
            </c:strRef>
          </c:tx>
          <c:spPr>
            <a:solidFill>
              <a:srgbClr val="3E6E8E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E6E8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8C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6E8E"/>
              </a:solidFill>
              <a:effectLst/>
            </c:spPr>
          </c:dPt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000" b="0" i="0" u="none" strike="noStrike" kern="1200" baseline="0">
                    <a:solidFill>
                      <a:srgbClr val="000000"/>
                    </a:solidFill>
                    <a:latin typeface="Arial" panose="020B060402020209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A (r=8, lr=2e-4)</c:v>
                </c:pt>
                <c:pt idx="1">
                  <c:v>B (r=16, lr=2e-4) — selected</c:v>
                </c:pt>
                <c:pt idx="2">
                  <c:v>C (r=16, lr=1e-4)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0.0266</c:v>
                </c:pt>
                <c:pt idx="1">
                  <c:v>0.0082</c:v>
                </c:pt>
                <c:pt idx="2">
                  <c:v>0.0506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950" b="0" i="0" u="none" strike="noStrike" kern="1200" baseline="0">
                <a:solidFill>
                  <a:srgbClr val="16253D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 cmpd="sng" algn="ctr">
              <a:solidFill>
                <a:srgbClr val="E5E9ED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16253D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03fcf110-406f-4903-9715-19228d5610e2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Arial" panose="020B0604020202090204"/>
              </a:rPr>
              <a:t>Precision vs. recall by category</a:t>
            </a:r>
            <a:endParaRPr sz="1200" b="0" i="0" u="none" strike="noStrike">
              <a:solidFill>
                <a:srgbClr val="000000"/>
              </a:solidFill>
              <a:latin typeface="Arial" panose="020B0604020202090204"/>
            </a:endParaRP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3E6E8E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0" i="0" u="none" strike="noStrike" kern="1200" baseline="0">
                    <a:solidFill>
                      <a:srgbClr val="000000"/>
                    </a:solidFill>
                    <a:latin typeface="Arial" panose="020B060402020209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ROUTINE</c:v>
                </c:pt>
                <c:pt idx="1">
                  <c:v>MILD_DISTRESS</c:v>
                </c:pt>
                <c:pt idx="2">
                  <c:v>ESCALATE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0.833</c:v>
                </c:pt>
                <c:pt idx="1">
                  <c:v>1</c:v>
                </c:pt>
                <c:pt idx="2">
                  <c:v>0.75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0" i="0" u="none" strike="noStrike" kern="1200" baseline="0">
                    <a:solidFill>
                      <a:srgbClr val="000000"/>
                    </a:solidFill>
                    <a:latin typeface="Arial" panose="020B060402020209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ROUTINE</c:v>
                </c:pt>
                <c:pt idx="1">
                  <c:v>MILD_DISTRESS</c:v>
                </c:pt>
                <c:pt idx="2">
                  <c:v>ESCALATE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0.833</c:v>
                </c:pt>
                <c:pt idx="1">
                  <c:v>0.667</c:v>
                </c:pt>
                <c:pt idx="2">
                  <c:v>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16253D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 cmpd="sng" algn="ctr">
              <a:solidFill>
                <a:srgbClr val="E5E9ED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16253D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en-US" sz="1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cf3e243-1583-4976-8e07-5099f14eb19b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5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31520" y="1965960"/>
            <a:ext cx="9601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20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&amp; NEURAL NETWORK ANALYST INTERNSHIP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987552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 Dynamics Capstone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429000"/>
            <a:ext cx="89611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Classification, Fine-Tuning &amp; RAG for Companion Dialogue Safety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029200"/>
            <a:ext cx="7315200" cy="12801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Yihang Sun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&amp; Neural Network Analyst Intern, InGen Dynamics Inc.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Iqbal Patel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readout covers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DCE7EE"/>
          </a:solidFill>
        </p:spPr>
      </p:sp>
      <p:sp>
        <p:nvSpPr>
          <p:cNvPr id="5" name="Text 3"/>
          <p:cNvSpPr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1664208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 product landscape &amp; PIC 2.0 / OpenClaw bridge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350008"/>
            <a:ext cx="457200" cy="457200"/>
          </a:xfrm>
          <a:prstGeom prst="ellipse">
            <a:avLst/>
          </a:prstGeom>
          <a:solidFill>
            <a:srgbClr val="DCE7EE"/>
          </a:solidFill>
        </p:spPr>
      </p:sp>
      <p:sp>
        <p:nvSpPr>
          <p:cNvPr id="8" name="Text 6"/>
          <p:cNvSpPr/>
          <p:nvPr/>
        </p:nvSpPr>
        <p:spPr>
          <a:xfrm>
            <a:off x="548640" y="235000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" y="2322576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— Edge-constrained neural network classifier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008376"/>
            <a:ext cx="457200" cy="457200"/>
          </a:xfrm>
          <a:prstGeom prst="ellipse">
            <a:avLst/>
          </a:prstGeom>
          <a:solidFill>
            <a:srgbClr val="DCE7EE"/>
          </a:solidFill>
        </p:spPr>
      </p:sp>
      <p:sp>
        <p:nvSpPr>
          <p:cNvPr id="11" name="Text 9"/>
          <p:cNvSpPr/>
          <p:nvPr/>
        </p:nvSpPr>
        <p:spPr>
          <a:xfrm>
            <a:off x="548640" y="300837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43000" y="2980944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— QLoRA/DPO fine-tuning &amp; FAISS RAG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666744"/>
            <a:ext cx="457200" cy="457200"/>
          </a:xfrm>
          <a:prstGeom prst="ellipse">
            <a:avLst/>
          </a:prstGeom>
          <a:solidFill>
            <a:srgbClr val="DCE7EE"/>
          </a:solidFill>
        </p:spPr>
      </p:sp>
      <p:sp>
        <p:nvSpPr>
          <p:cNvPr id="14" name="Text 12"/>
          <p:cNvSpPr/>
          <p:nvPr/>
        </p:nvSpPr>
        <p:spPr>
          <a:xfrm>
            <a:off x="548640" y="366674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3639312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— Independent safety &amp; escalation evaluation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63640" y="1691640"/>
            <a:ext cx="457200" cy="457200"/>
          </a:xfrm>
          <a:prstGeom prst="ellipse">
            <a:avLst/>
          </a:prstGeom>
          <a:solidFill>
            <a:srgbClr val="DCE7EE"/>
          </a:solidFill>
        </p:spPr>
      </p:sp>
      <p:sp>
        <p:nvSpPr>
          <p:cNvPr id="17" name="Text 15"/>
          <p:cNvSpPr/>
          <p:nvPr/>
        </p:nvSpPr>
        <p:spPr>
          <a:xfrm>
            <a:off x="6263640" y="16916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0" y="1664208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Cross-track synthesis: on-device vs. cloud-assisted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63640" y="2350008"/>
            <a:ext cx="457200" cy="457200"/>
          </a:xfrm>
          <a:prstGeom prst="ellipse">
            <a:avLst/>
          </a:prstGeom>
          <a:solidFill>
            <a:srgbClr val="DCE7EE"/>
          </a:solidFill>
        </p:spPr>
      </p:sp>
      <p:sp>
        <p:nvSpPr>
          <p:cNvPr id="20" name="Text 18"/>
          <p:cNvSpPr/>
          <p:nvPr/>
        </p:nvSpPr>
        <p:spPr>
          <a:xfrm>
            <a:off x="6263640" y="235000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0" y="2322576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Per-platform recommendations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63640" y="3008376"/>
            <a:ext cx="457200" cy="457200"/>
          </a:xfrm>
          <a:prstGeom prst="ellipse">
            <a:avLst/>
          </a:prstGeom>
          <a:solidFill>
            <a:srgbClr val="DCE7EE"/>
          </a:solidFill>
        </p:spPr>
      </p:sp>
      <p:sp>
        <p:nvSpPr>
          <p:cNvPr id="23" name="Text 21"/>
          <p:cNvSpPr/>
          <p:nvPr/>
        </p:nvSpPr>
        <p:spPr>
          <a:xfrm>
            <a:off x="6263640" y="300837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858000" y="2980944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what a longer engagement would pursue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263640" y="3666744"/>
            <a:ext cx="457200" cy="457200"/>
          </a:xfrm>
          <a:prstGeom prst="ellipse">
            <a:avLst/>
          </a:prstGeom>
          <a:solidFill>
            <a:srgbClr val="DCE7EE"/>
          </a:solidFill>
        </p:spPr>
      </p:sp>
      <p:sp>
        <p:nvSpPr>
          <p:cNvPr id="26" name="Text 24"/>
          <p:cNvSpPr/>
          <p:nvPr/>
        </p:nvSpPr>
        <p:spPr>
          <a:xfrm>
            <a:off x="6263640" y="366674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858000" y="3639312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Career-portfolio signature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1091672" y="6473952"/>
            <a:ext cx="914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products, five different ML problems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139696" cy="3977640"/>
          </a:xfrm>
          <a:prstGeom prst="roundRect">
            <a:avLst>
              <a:gd name="adj" fmla="val 3419"/>
            </a:avLst>
          </a:prstGeom>
          <a:solidFill>
            <a:srgbClr val="DCE7EE"/>
          </a:solidFill>
        </p:spPr>
      </p:sp>
      <p:sp>
        <p:nvSpPr>
          <p:cNvPr id="5" name="Shape 3"/>
          <p:cNvSpPr/>
          <p:nvPr/>
        </p:nvSpPr>
        <p:spPr>
          <a:xfrm>
            <a:off x="731520" y="19202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E6E8E"/>
          </a:solidFill>
        </p:spPr>
      </p:sp>
      <p:sp>
        <p:nvSpPr>
          <p:cNvPr id="6" name="Text 4"/>
          <p:cNvSpPr/>
          <p:nvPr/>
        </p:nvSpPr>
        <p:spPr>
          <a:xfrm>
            <a:off x="731520" y="19202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514600"/>
            <a:ext cx="1773936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971800"/>
            <a:ext cx="1773936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Eldercare companion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177393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TYPE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3703320"/>
            <a:ext cx="1773936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+ generation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177393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4709160"/>
            <a:ext cx="1773936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Safety: never diagnose or replace a caregiver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816352" y="1691640"/>
            <a:ext cx="2139696" cy="3977640"/>
          </a:xfrm>
          <a:prstGeom prst="roundRect">
            <a:avLst>
              <a:gd name="adj" fmla="val 3419"/>
            </a:avLst>
          </a:prstGeom>
          <a:solidFill>
            <a:srgbClr val="DCE7EE"/>
          </a:solidFill>
        </p:spPr>
      </p:sp>
      <p:sp>
        <p:nvSpPr>
          <p:cNvPr id="14" name="Shape 12"/>
          <p:cNvSpPr/>
          <p:nvPr/>
        </p:nvSpPr>
        <p:spPr>
          <a:xfrm>
            <a:off x="2999232" y="19202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E6E8E"/>
          </a:solidFill>
        </p:spPr>
      </p:sp>
      <p:sp>
        <p:nvSpPr>
          <p:cNvPr id="15" name="Text 13"/>
          <p:cNvSpPr/>
          <p:nvPr/>
        </p:nvSpPr>
        <p:spPr>
          <a:xfrm>
            <a:off x="2999232" y="19202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999232" y="2514600"/>
            <a:ext cx="1773936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Senpai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999232" y="2971800"/>
            <a:ext cx="1773936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 companion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99232" y="3474720"/>
            <a:ext cx="177393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TYPE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999232" y="3703320"/>
            <a:ext cx="1773936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+ retrieval + classification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99232" y="4480560"/>
            <a:ext cx="177393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999232" y="4709160"/>
            <a:ext cx="1773936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Groundedness in curriculum content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4064" y="1691640"/>
            <a:ext cx="2139696" cy="3977640"/>
          </a:xfrm>
          <a:prstGeom prst="roundRect">
            <a:avLst>
              <a:gd name="adj" fmla="val 3419"/>
            </a:avLst>
          </a:prstGeom>
          <a:solidFill>
            <a:srgbClr val="F1F4F7"/>
          </a:solidFill>
        </p:spPr>
      </p:sp>
      <p:sp>
        <p:nvSpPr>
          <p:cNvPr id="23" name="Shape 21"/>
          <p:cNvSpPr/>
          <p:nvPr/>
        </p:nvSpPr>
        <p:spPr>
          <a:xfrm>
            <a:off x="5266944" y="19202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E6E8E"/>
          </a:solidFill>
        </p:spPr>
      </p:sp>
      <p:sp>
        <p:nvSpPr>
          <p:cNvPr id="24" name="Text 22"/>
          <p:cNvSpPr/>
          <p:nvPr/>
        </p:nvSpPr>
        <p:spPr>
          <a:xfrm>
            <a:off x="5266944" y="19202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266944" y="2514600"/>
            <a:ext cx="1773936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Prime AI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266944" y="2971800"/>
            <a:ext cx="1773936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security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266944" y="3474720"/>
            <a:ext cx="177393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TYPE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266944" y="3703320"/>
            <a:ext cx="1773936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(27 detection functions)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266944" y="4480560"/>
            <a:ext cx="177393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266944" y="4709160"/>
            <a:ext cx="1773936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&lt;200ms latency, &lt;3% false alerts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351776" y="1691640"/>
            <a:ext cx="2139696" cy="3977640"/>
          </a:xfrm>
          <a:prstGeom prst="roundRect">
            <a:avLst>
              <a:gd name="adj" fmla="val 3419"/>
            </a:avLst>
          </a:prstGeom>
          <a:solidFill>
            <a:srgbClr val="F1F4F7"/>
          </a:solidFill>
        </p:spPr>
      </p:sp>
      <p:sp>
        <p:nvSpPr>
          <p:cNvPr id="32" name="Shape 30"/>
          <p:cNvSpPr/>
          <p:nvPr/>
        </p:nvSpPr>
        <p:spPr>
          <a:xfrm>
            <a:off x="7534656" y="19202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E6E8E"/>
          </a:solidFill>
        </p:spPr>
      </p:sp>
      <p:sp>
        <p:nvSpPr>
          <p:cNvPr id="33" name="Text 31"/>
          <p:cNvSpPr/>
          <p:nvPr/>
        </p:nvSpPr>
        <p:spPr>
          <a:xfrm>
            <a:off x="7534656" y="19202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534656" y="2514600"/>
            <a:ext cx="1773936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Aido Rover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534656" y="2971800"/>
            <a:ext cx="1773936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Outdoor patrol &amp; inspection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534656" y="3474720"/>
            <a:ext cx="177393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TYPE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534656" y="3703320"/>
            <a:ext cx="1773936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+ planning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534656" y="4480560"/>
            <a:ext cx="177393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534656" y="4709160"/>
            <a:ext cx="1773936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under changing conditions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619488" y="1691640"/>
            <a:ext cx="2139696" cy="3977640"/>
          </a:xfrm>
          <a:prstGeom prst="roundRect">
            <a:avLst>
              <a:gd name="adj" fmla="val 3419"/>
            </a:avLst>
          </a:prstGeom>
          <a:solidFill>
            <a:srgbClr val="F1F4F7"/>
          </a:solidFill>
        </p:spPr>
      </p:sp>
      <p:sp>
        <p:nvSpPr>
          <p:cNvPr id="41" name="Shape 39"/>
          <p:cNvSpPr/>
          <p:nvPr/>
        </p:nvSpPr>
        <p:spPr>
          <a:xfrm>
            <a:off x="9802368" y="19202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E6E8E"/>
          </a:solidFill>
        </p:spPr>
      </p:sp>
      <p:sp>
        <p:nvSpPr>
          <p:cNvPr id="42" name="Text 40"/>
          <p:cNvSpPr/>
          <p:nvPr/>
        </p:nvSpPr>
        <p:spPr>
          <a:xfrm>
            <a:off x="9802368" y="192024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802368" y="2514600"/>
            <a:ext cx="1773936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Aido Humanoid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9802368" y="2971800"/>
            <a:ext cx="1773936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General-purpose bipedal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9802368" y="3474720"/>
            <a:ext cx="177393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TYPE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802368" y="3703320"/>
            <a:ext cx="1773936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&amp; policy control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9802368" y="4480560"/>
            <a:ext cx="1773936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80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9802368" y="4709160"/>
            <a:ext cx="1773936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Physical, real-time safety (&lt;2ms e-stop)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Fari &amp; Senpai anchor the generation/retrieval track (Week 3) · Sentinel Prime AI &amp; Aido Rover anchor the classification track (Week 2) · Aido Humanoid's planning problem is out of scope for both tracks (Section 6)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1091672" y="6473952"/>
            <a:ext cx="914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2.0 -&gt; OpenClaw: a working hypothesis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 = my prior multi-agent market-research system (Planner, Knowledge, Quant, Risk, Critic, Report; FastAPI + Docker; 78 passing tests)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2560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80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2.0 MODEL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291840" y="1828800"/>
            <a:ext cx="39319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80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OPENCLAW COMPONENT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406640" y="1828800"/>
            <a:ext cx="1828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80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502920"/>
          </a:xfrm>
          <a:prstGeom prst="rect">
            <a:avLst/>
          </a:prstGeom>
          <a:solidFill>
            <a:srgbClr val="F5F7F9"/>
          </a:solidFill>
        </p:spPr>
      </p:sp>
      <p:sp>
        <p:nvSpPr>
          <p:cNvPr id="9" name="Text 7"/>
          <p:cNvSpPr/>
          <p:nvPr/>
        </p:nvSpPr>
        <p:spPr>
          <a:xfrm>
            <a:off x="548640" y="2194560"/>
            <a:ext cx="2560320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HTD-IRL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91840" y="2194560"/>
            <a:ext cx="3931920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agent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406640" y="224028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97A4A"/>
          </a:solidFill>
        </p:spPr>
      </p:sp>
      <p:sp>
        <p:nvSpPr>
          <p:cNvPr id="12" name="Text 10"/>
          <p:cNvSpPr/>
          <p:nvPr/>
        </p:nvSpPr>
        <p:spPr>
          <a:xfrm>
            <a:off x="7406640" y="2240280"/>
            <a:ext cx="15544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2743200"/>
            <a:ext cx="2560320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91840" y="2743200"/>
            <a:ext cx="3931920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/ retrieval agent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406640" y="278892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5B8C6E"/>
          </a:solidFill>
        </p:spPr>
      </p:sp>
      <p:sp>
        <p:nvSpPr>
          <p:cNvPr id="16" name="Text 14"/>
          <p:cNvSpPr/>
          <p:nvPr/>
        </p:nvSpPr>
        <p:spPr>
          <a:xfrm>
            <a:off x="7406640" y="2788920"/>
            <a:ext cx="15544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11247120" cy="502920"/>
          </a:xfrm>
          <a:prstGeom prst="rect">
            <a:avLst/>
          </a:prstGeom>
          <a:solidFill>
            <a:srgbClr val="F5F7F9"/>
          </a:solidFill>
        </p:spPr>
      </p:sp>
      <p:sp>
        <p:nvSpPr>
          <p:cNvPr id="18" name="Text 16"/>
          <p:cNvSpPr/>
          <p:nvPr/>
        </p:nvSpPr>
        <p:spPr>
          <a:xfrm>
            <a:off x="548640" y="3291840"/>
            <a:ext cx="2560320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91840" y="3291840"/>
            <a:ext cx="3931920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 / analysis agent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406640" y="333756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0A458"/>
          </a:solidFill>
        </p:spPr>
      </p:sp>
      <p:sp>
        <p:nvSpPr>
          <p:cNvPr id="21" name="Text 19"/>
          <p:cNvSpPr/>
          <p:nvPr/>
        </p:nvSpPr>
        <p:spPr>
          <a:xfrm>
            <a:off x="7406640" y="3337560"/>
            <a:ext cx="15544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3840480"/>
            <a:ext cx="2560320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AMDC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291840" y="3840480"/>
            <a:ext cx="3931920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+ Critic agents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406640" y="388620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E0A458"/>
          </a:solidFill>
        </p:spPr>
      </p:sp>
      <p:sp>
        <p:nvSpPr>
          <p:cNvPr id="25" name="Text 23"/>
          <p:cNvSpPr/>
          <p:nvPr/>
        </p:nvSpPr>
        <p:spPr>
          <a:xfrm>
            <a:off x="7406640" y="3886200"/>
            <a:ext cx="15544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343400"/>
            <a:ext cx="11247120" cy="502920"/>
          </a:xfrm>
          <a:prstGeom prst="rect">
            <a:avLst/>
          </a:prstGeom>
          <a:solidFill>
            <a:srgbClr val="F5F7F9"/>
          </a:solidFill>
        </p:spPr>
      </p:sp>
      <p:sp>
        <p:nvSpPr>
          <p:cNvPr id="27" name="Text 25"/>
          <p:cNvSpPr/>
          <p:nvPr/>
        </p:nvSpPr>
        <p:spPr>
          <a:xfrm>
            <a:off x="548640" y="4389120"/>
            <a:ext cx="2560320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CRL-MRS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91840" y="4389120"/>
            <a:ext cx="3931920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agent (loosely)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406640" y="44348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97A4A"/>
          </a:solidFill>
        </p:spPr>
      </p:sp>
      <p:sp>
        <p:nvSpPr>
          <p:cNvPr id="30" name="Text 28"/>
          <p:cNvSpPr/>
          <p:nvPr/>
        </p:nvSpPr>
        <p:spPr>
          <a:xfrm>
            <a:off x="7406640" y="4434840"/>
            <a:ext cx="15544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48640" y="4937760"/>
            <a:ext cx="2560320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GRPO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291840" y="4937760"/>
            <a:ext cx="3931920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confident mapping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406640" y="498348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5B6B80"/>
          </a:solidFill>
        </p:spPr>
      </p:sp>
      <p:sp>
        <p:nvSpPr>
          <p:cNvPr id="34" name="Text 32"/>
          <p:cNvSpPr/>
          <p:nvPr/>
        </p:nvSpPr>
        <p:spPr>
          <a:xfrm>
            <a:off x="7406640" y="4983480"/>
            <a:ext cx="155448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Unmapped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5806440"/>
            <a:ext cx="1106424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OpenClaw already demonstrates 4 of 6 PIC 2.0 patterns. Physical multi-robot coordination and RL-based planning remain new areas — tested indirectly by keeping safety checks independent in Week 3 (Section 4).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1091672" y="6473952"/>
            <a:ext cx="914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WEEK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Edge-constrained classifier: size, not speed, is the win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14600" cy="1554480"/>
          </a:xfrm>
          <a:prstGeom prst="roundRect">
            <a:avLst>
              <a:gd name="adj" fmla="val 4706"/>
            </a:avLst>
          </a:prstGeom>
          <a:solidFill>
            <a:srgbClr val="DCE7EE"/>
          </a:solidFill>
        </p:spPr>
      </p:sp>
      <p:sp>
        <p:nvSpPr>
          <p:cNvPr id="5" name="Text 3"/>
          <p:cNvSpPr/>
          <p:nvPr/>
        </p:nvSpPr>
        <p:spPr>
          <a:xfrm>
            <a:off x="685800" y="1801368"/>
            <a:ext cx="2240280" cy="8549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92.50%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2624328"/>
            <a:ext cx="2240280" cy="59070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FP32 accuracy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691640"/>
            <a:ext cx="2514600" cy="1554480"/>
          </a:xfrm>
          <a:prstGeom prst="roundRect">
            <a:avLst>
              <a:gd name="adj" fmla="val 4706"/>
            </a:avLst>
          </a:prstGeom>
          <a:solidFill>
            <a:srgbClr val="DCE7EE"/>
          </a:solidFill>
        </p:spPr>
      </p:sp>
      <p:sp>
        <p:nvSpPr>
          <p:cNvPr id="8" name="Text 6"/>
          <p:cNvSpPr/>
          <p:nvPr/>
        </p:nvSpPr>
        <p:spPr>
          <a:xfrm>
            <a:off x="3337560" y="1801368"/>
            <a:ext cx="2240280" cy="8549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92.33%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337560" y="2624328"/>
            <a:ext cx="2240280" cy="59070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accuracy (-0.17pp)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52160" y="1691640"/>
            <a:ext cx="2514600" cy="1554480"/>
          </a:xfrm>
          <a:prstGeom prst="roundRect">
            <a:avLst>
              <a:gd name="adj" fmla="val 4706"/>
            </a:avLst>
          </a:prstGeom>
          <a:solidFill>
            <a:srgbClr val="E4EEE7"/>
          </a:solidFill>
        </p:spPr>
      </p:sp>
      <p:sp>
        <p:nvSpPr>
          <p:cNvPr id="11" name="Text 9"/>
          <p:cNvSpPr/>
          <p:nvPr/>
        </p:nvSpPr>
        <p:spPr>
          <a:xfrm>
            <a:off x="5989320" y="1801368"/>
            <a:ext cx="2240280" cy="8549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5B8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-68.6%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989320" y="2624328"/>
            <a:ext cx="2240280" cy="59070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 after INT8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03920" y="1691640"/>
            <a:ext cx="3108960" cy="1554480"/>
          </a:xfrm>
          <a:prstGeom prst="roundRect">
            <a:avLst>
              <a:gd name="adj" fmla="val 4706"/>
            </a:avLst>
          </a:prstGeom>
          <a:solidFill>
            <a:srgbClr val="F3E4D8"/>
          </a:solidFill>
        </p:spPr>
      </p:sp>
      <p:sp>
        <p:nvSpPr>
          <p:cNvPr id="14" name="Text 12"/>
          <p:cNvSpPr/>
          <p:nvPr/>
        </p:nvSpPr>
        <p:spPr>
          <a:xfrm>
            <a:off x="8641080" y="1801368"/>
            <a:ext cx="2834640" cy="8549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C9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~25x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641080" y="2624328"/>
            <a:ext cx="2834640" cy="59070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slower, not faster, after INT8</a:t>
            </a:r>
            <a:endParaRPr lang="en-US" sz="120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548640" y="3520440"/>
          <a:ext cx="502920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5852160" y="3520440"/>
            <a:ext cx="5760720" cy="2651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30-step sensor windows on synthetic Aido Rover data (4,000 samples, 1,000/class); 210 -&gt; 64 -&gt; 32 -&gt; 4 feedforward network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20ms real-time budget cleared by ~578x (FP32) and ~23x (INT8) — latency was never the binding constraint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quantize anyway, for memory headroom once several models share one chip (Sentinel's 5-model ensemble, Rover's 14-sensor stack)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11091672" y="6473952"/>
            <a:ext cx="914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WEEK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QLoRA/DPO ablation + FAISS retrieval on Fari dialogue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554480"/>
          <a:ext cx="5577840" cy="3337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69164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DCE7EE"/>
          </a:solidFill>
        </p:spPr>
      </p:sp>
      <p:sp>
        <p:nvSpPr>
          <p:cNvPr id="6" name="Text 3"/>
          <p:cNvSpPr/>
          <p:nvPr/>
        </p:nvSpPr>
        <p:spPr>
          <a:xfrm>
            <a:off x="6537960" y="1801368"/>
            <a:ext cx="2240280" cy="77952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84.6%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6537960" y="2542032"/>
            <a:ext cx="2240280" cy="53858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hit@1 (11/13 queries)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052560" y="16916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DCE7EE"/>
          </a:solidFill>
        </p:spPr>
      </p:sp>
      <p:sp>
        <p:nvSpPr>
          <p:cNvPr id="9" name="Text 6"/>
          <p:cNvSpPr/>
          <p:nvPr/>
        </p:nvSpPr>
        <p:spPr>
          <a:xfrm>
            <a:off x="9189720" y="1801368"/>
            <a:ext cx="2331720" cy="77952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92.3%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9189720" y="2542032"/>
            <a:ext cx="2331720" cy="53858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hit@3 &amp; hit@5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0" y="3337560"/>
            <a:ext cx="5257800" cy="1554480"/>
          </a:xfrm>
          <a:prstGeom prst="roundRect">
            <a:avLst>
              <a:gd name="adj" fmla="val 4706"/>
            </a:avLst>
          </a:prstGeom>
          <a:solidFill>
            <a:srgbClr val="F3E4D8"/>
          </a:solidFill>
        </p:spPr>
      </p:sp>
      <p:sp>
        <p:nvSpPr>
          <p:cNvPr id="12" name="Text 9"/>
          <p:cNvSpPr/>
          <p:nvPr/>
        </p:nvSpPr>
        <p:spPr>
          <a:xfrm>
            <a:off x="658368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miss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583680" y="3794760"/>
            <a:ext cx="493776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fine-tuned configs (and the base model) missed one indirect self-harm warning sign — confirmed across two separate training runs, not a fluke.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48640" y="5074920"/>
            <a:ext cx="11064240" cy="14173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knowledge-base chunks, own words, grounded in NIA/NIH, CDC, WHO sources — sentence-transformers + FAISS, same architecture as the Psychologist Agent RAG pipeline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DPO preference pairs (18/category), resized from 108 per supervisor guidance; reached this result after tracing and fixing a real dtype bug in trl 0.9.6's k-bit training path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091672" y="6473952"/>
            <a:ext cx="914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WEEK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check: independent of the model it's checking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017520" cy="1554480"/>
          </a:xfrm>
          <a:prstGeom prst="roundRect">
            <a:avLst>
              <a:gd name="adj" fmla="val 4706"/>
            </a:avLst>
          </a:prstGeom>
          <a:solidFill>
            <a:srgbClr val="DCE7EE"/>
          </a:solidFill>
        </p:spPr>
      </p:sp>
      <p:sp>
        <p:nvSpPr>
          <p:cNvPr id="5" name="Text 3"/>
          <p:cNvSpPr/>
          <p:nvPr/>
        </p:nvSpPr>
        <p:spPr>
          <a:xfrm>
            <a:off x="685800" y="1801368"/>
            <a:ext cx="2743200" cy="8549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83.3%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2624328"/>
            <a:ext cx="2743200" cy="59070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accuracy (15/18 transcripts)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794760" y="1691640"/>
            <a:ext cx="3017520" cy="1554480"/>
          </a:xfrm>
          <a:prstGeom prst="roundRect">
            <a:avLst>
              <a:gd name="adj" fmla="val 4706"/>
            </a:avLst>
          </a:prstGeom>
          <a:solidFill>
            <a:srgbClr val="E4EEE7"/>
          </a:solidFill>
        </p:spPr>
      </p:sp>
      <p:sp>
        <p:nvSpPr>
          <p:cNvPr id="8" name="Text 6"/>
          <p:cNvSpPr/>
          <p:nvPr/>
        </p:nvSpPr>
        <p:spPr>
          <a:xfrm>
            <a:off x="3931920" y="1801368"/>
            <a:ext cx="2743200" cy="8549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5B8C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931920" y="2624328"/>
            <a:ext cx="2743200" cy="59070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negatives on ESCALATE</a:t>
            </a:r>
            <a:endParaRPr lang="en-US" sz="120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7040880" y="1691640"/>
          <a:ext cx="45720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3520440"/>
            <a:ext cx="6126480" cy="3108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embedding-centroid + keyword-override classifier, kept deliberately separate from the fine-tuned dialogue model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on 18 labeled transcripts never used to write the exemplars or keyword list — avoids the circularity risk flagged for the Psychologist Agent's original evaluation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missed escalations, at the cost of some over-triggering on MILD_DISTRESS (precision 0.75) — the right side to err on for a companion robot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1091672" y="6473952"/>
            <a:ext cx="914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5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tracks, two very different compute problems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1F3A5C"/>
          </a:solidFill>
        </p:spPr>
      </p:sp>
      <p:sp>
        <p:nvSpPr>
          <p:cNvPr id="5" name="Text 3"/>
          <p:cNvSpPr/>
          <p:nvPr/>
        </p:nvSpPr>
        <p:spPr>
          <a:xfrm>
            <a:off x="868680" y="1920240"/>
            <a:ext cx="45720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TRACK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17K params · 0.066 MB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4572000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8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 its 20ms latency budget by ~578x before any optimization. Runs comfortably alongside several other models on shared edge silicon — the real constraint is memory footprint, not speed.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5120640"/>
            <a:ext cx="4572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to: Sentinel Prime AI, Aido Rover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62472" y="1691640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1F3A5C"/>
          </a:solidFill>
        </p:spPr>
      </p:sp>
      <p:sp>
        <p:nvSpPr>
          <p:cNvPr id="10" name="Text 8"/>
          <p:cNvSpPr/>
          <p:nvPr/>
        </p:nvSpPr>
        <p:spPr>
          <a:xfrm>
            <a:off x="6382512" y="1920240"/>
            <a:ext cx="45720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+ RETRIEVAL TRACK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82512" y="2286000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1.5B params · dedicated GPU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382512" y="2971800"/>
            <a:ext cx="4572000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8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 model chosen specifically to be small needed 4-bit quantization and a real CUDA GPU just to train. Inference at this scale is orders of magnitude heavier than the classification track.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382512" y="5120640"/>
            <a:ext cx="45720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to: Fari, Senpai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a hybrid architecture — on-device retrieval + safety-checking (cheap, demonstrated this week) paired with cloud-assisted generation — fits Fari/Senpai better than a fully on-device generation stack.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091672" y="6473952"/>
            <a:ext cx="914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Per-platform recommendations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4F7"/>
          </a:solidFill>
        </p:spPr>
      </p:sp>
      <p:sp>
        <p:nvSpPr>
          <p:cNvPr id="5" name="Shape 3"/>
          <p:cNvSpPr/>
          <p:nvPr/>
        </p:nvSpPr>
        <p:spPr>
          <a:xfrm>
            <a:off x="777240" y="201168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3E6E8E"/>
          </a:solidFill>
        </p:spPr>
      </p:sp>
      <p:sp>
        <p:nvSpPr>
          <p:cNvPr id="6" name="Text 4"/>
          <p:cNvSpPr/>
          <p:nvPr/>
        </p:nvSpPr>
        <p:spPr>
          <a:xfrm>
            <a:off x="777240" y="20116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3108960" cy="2194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the fine-tuned conversational layer with an independent, non-generative safety classifier — motivated directly by the indirect-warning-sign miss. RAG-plus-safety-check is a ready-to-extend pattern for Fari's safety requirement.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73736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4F7"/>
          </a:solidFill>
        </p:spPr>
      </p:sp>
      <p:sp>
        <p:nvSpPr>
          <p:cNvPr id="10" name="Shape 8"/>
          <p:cNvSpPr/>
          <p:nvPr/>
        </p:nvSpPr>
        <p:spPr>
          <a:xfrm>
            <a:off x="4526280" y="201168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3E6E8E"/>
          </a:solidFill>
        </p:spPr>
      </p:sp>
      <p:sp>
        <p:nvSpPr>
          <p:cNvPr id="11" name="Text 9"/>
          <p:cNvSpPr/>
          <p:nvPr/>
        </p:nvSpPr>
        <p:spPr>
          <a:xfrm>
            <a:off x="4526280" y="20116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26280" y="269748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Senpai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26280" y="3246120"/>
            <a:ext cx="3108960" cy="2194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FAISS retrieval pipeline (84.6% hit@1) is directly applicable for grounding tutoring responses in curriculum content. Watch chunk granularity as the knowledge base scales past 13 chunks.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173736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4F7"/>
          </a:solidFill>
        </p:spPr>
      </p:sp>
      <p:sp>
        <p:nvSpPr>
          <p:cNvPr id="15" name="Shape 13"/>
          <p:cNvSpPr/>
          <p:nvPr/>
        </p:nvSpPr>
        <p:spPr>
          <a:xfrm>
            <a:off x="8275320" y="201168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3E6E8E"/>
          </a:solidFill>
        </p:spPr>
      </p:sp>
      <p:sp>
        <p:nvSpPr>
          <p:cNvPr id="16" name="Text 14"/>
          <p:cNvSpPr/>
          <p:nvPr/>
        </p:nvSpPr>
        <p:spPr>
          <a:xfrm>
            <a:off x="8275320" y="20116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275320" y="269748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Prime AI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275320" y="3246120"/>
            <a:ext cx="3108960" cy="2194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quantization (-0.17pp accuracy, -68.6% size, slower not faster at this scale) informs the stated 5-model Jetson AGX Orin ensemble: quantize for memory headroom, not for a latency win this model size doesn't need.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091672" y="6473952"/>
            <a:ext cx="914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Per-platform recommendations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F1F4F7"/>
          </a:solidFill>
        </p:spPr>
      </p:sp>
      <p:sp>
        <p:nvSpPr>
          <p:cNvPr id="5" name="Shape 3"/>
          <p:cNvSpPr/>
          <p:nvPr/>
        </p:nvSpPr>
        <p:spPr>
          <a:xfrm>
            <a:off x="822960" y="205740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3E6E8E"/>
          </a:solidFill>
        </p:spPr>
      </p:sp>
      <p:sp>
        <p:nvSpPr>
          <p:cNvPr id="6" name="Text 4"/>
          <p:cNvSpPr/>
          <p:nvPr/>
        </p:nvSpPr>
        <p:spPr>
          <a:xfrm>
            <a:off x="822960" y="2057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78892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Aido Rover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4846320" cy="2011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Section 2 accuracy-latency methodology against Rover's real 14-sensor stream once available — this week's numbers are from a synthetic proxy. Rover's per-sensor reliability weighting pairs naturally with Sentinel's uncertainty-gating pattern; worth sharing as one component.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F1F4F7"/>
          </a:solidFill>
        </p:spPr>
      </p:sp>
      <p:sp>
        <p:nvSpPr>
          <p:cNvPr id="10" name="Shape 8"/>
          <p:cNvSpPr/>
          <p:nvPr/>
        </p:nvSpPr>
        <p:spPr>
          <a:xfrm>
            <a:off x="6492240" y="205740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3E6E8E"/>
          </a:solidFill>
        </p:spPr>
      </p:sp>
      <p:sp>
        <p:nvSpPr>
          <p:cNvPr id="11" name="Text 9"/>
          <p:cNvSpPr/>
          <p:nvPr/>
        </p:nvSpPr>
        <p:spPr>
          <a:xfrm>
            <a:off x="6492240" y="2057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92240" y="278892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Aido Humanoid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492240" y="3383280"/>
            <a:ext cx="4846320" cy="2011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track this engagement directly addresses planning and policy control (GR00T N1.6, GRPO). The transferable piece is architectural, not technical: keeping a safety governance layer independent of the core policy model — the same principle behind Humanoid's 12 hardwired safety rules. Physical planning and multi-robot coordination remain new areas without direct prior experience.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091672" y="6473952"/>
            <a:ext cx="914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E6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what comes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28016" cy="128016"/>
          </a:xfrm>
          <a:prstGeom prst="ellipse">
            <a:avLst/>
          </a:prstGeom>
          <a:solidFill>
            <a:srgbClr val="E0A458"/>
          </a:solidFill>
        </p:spPr>
      </p:sp>
      <p:sp>
        <p:nvSpPr>
          <p:cNvPr id="5" name="Text 3"/>
          <p:cNvSpPr/>
          <p:nvPr/>
        </p:nvSpPr>
        <p:spPr>
          <a:xfrm>
            <a:off x="868680" y="1664208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Synthetic, not real, sensor data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297680" y="1664208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edge classifier trains and evaluates on a synthetic proxy for Aido Rover's sensor set — priority #1 for a longer engagement.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624328"/>
            <a:ext cx="128016" cy="128016"/>
          </a:xfrm>
          <a:prstGeom prst="ellipse">
            <a:avLst/>
          </a:prstGeom>
          <a:solidFill>
            <a:srgbClr val="E0A458"/>
          </a:solidFill>
        </p:spPr>
      </p:sp>
      <p:sp>
        <p:nvSpPr>
          <p:cNvPr id="8" name="Text 6"/>
          <p:cNvSpPr/>
          <p:nvPr/>
        </p:nvSpPr>
        <p:spPr>
          <a:xfrm>
            <a:off x="868680" y="2505456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evaluation sets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297680" y="2505456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training pairs, 18 safety transcripts, 13 RAG chunks — a handful of different labels would move headline numbers by several points.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465576"/>
            <a:ext cx="128016" cy="128016"/>
          </a:xfrm>
          <a:prstGeom prst="ellipse">
            <a:avLst/>
          </a:prstGeom>
          <a:solidFill>
            <a:srgbClr val="E0A458"/>
          </a:solidFill>
        </p:spPr>
      </p:sp>
      <p:sp>
        <p:nvSpPr>
          <p:cNvPr id="11" name="Text 9"/>
          <p:cNvSpPr/>
          <p:nvPr/>
        </p:nvSpPr>
        <p:spPr>
          <a:xfrm>
            <a:off x="868680" y="3346704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seed, single epoch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297680" y="3346704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A's eval loss shifted from 0.0239 to 0.0266 across two runs on GPU non-determinism alone; ranking is more trustworthy than exact values.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306824"/>
            <a:ext cx="128016" cy="128016"/>
          </a:xfrm>
          <a:prstGeom prst="ellipse">
            <a:avLst/>
          </a:prstGeom>
          <a:solidFill>
            <a:srgbClr val="E0A458"/>
          </a:solidFill>
        </p:spPr>
      </p:sp>
      <p:sp>
        <p:nvSpPr>
          <p:cNvPr id="14" name="Text 12"/>
          <p:cNvSpPr/>
          <p:nvPr/>
        </p:nvSpPr>
        <p:spPr>
          <a:xfrm>
            <a:off x="868680" y="4187952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evaluator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297680" y="4187952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qualitative dialogue comparison was scored by one person; a second reviewer would catch disagreements a single pass could miss.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148072"/>
            <a:ext cx="128016" cy="128016"/>
          </a:xfrm>
          <a:prstGeom prst="ellipse">
            <a:avLst/>
          </a:prstGeom>
          <a:solidFill>
            <a:srgbClr val="E0A458"/>
          </a:solidFill>
        </p:spPr>
      </p:sp>
      <p:sp>
        <p:nvSpPr>
          <p:cNvPr id="17" name="Text 15"/>
          <p:cNvSpPr/>
          <p:nvPr/>
        </p:nvSpPr>
        <p:spPr>
          <a:xfrm>
            <a:off x="868680" y="5029200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Public-data architecture bridge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297680" y="502920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62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PIC 2.0 / OpenClaw mapping and the on-device-vs-cloud synthesis are both built from public product pages, not InGen's internal numbers.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091672" y="6473952"/>
            <a:ext cx="914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5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CAREER-PORTFOLIO SIGNATURE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engagement demonstrates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8E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evaluation, honest reporting of inconvenient results, and an independent safety/governance check — applied across the full compute range InGen's own products span, from a 17K-parameter edge classifier to a 1.5B-parameter fine-tuned language model.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2116836" cy="502920"/>
          </a:xfrm>
          <a:prstGeom prst="roundRect">
            <a:avLst>
              <a:gd name="adj" fmla="val 49091"/>
            </a:avLst>
          </a:prstGeom>
          <a:solidFill>
            <a:srgbClr val="1F3A5C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43200"/>
            <a:ext cx="2116836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ML Engineer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894076" y="2743200"/>
            <a:ext cx="3749040" cy="502920"/>
          </a:xfrm>
          <a:prstGeom prst="roundRect">
            <a:avLst>
              <a:gd name="adj" fmla="val 49091"/>
            </a:avLst>
          </a:prstGeom>
          <a:solidFill>
            <a:srgbClr val="1F3A5C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94076" y="2743200"/>
            <a:ext cx="37490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Engineer — LLM / Applied Research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71716" y="2743200"/>
            <a:ext cx="2884932" cy="502920"/>
          </a:xfrm>
          <a:prstGeom prst="roundRect">
            <a:avLst>
              <a:gd name="adj" fmla="val 49091"/>
            </a:avLst>
          </a:prstGeom>
          <a:solidFill>
            <a:srgbClr val="1F3A5C"/>
          </a:solidFill>
          <a:ln w="12700">
            <a:solidFill>
              <a:srgbClr val="E0A4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71716" y="2743200"/>
            <a:ext cx="2884932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Embedded ML Engineer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1F3A5C"/>
          </a:solidFill>
        </p:spPr>
      </p:sp>
      <p:sp>
        <p:nvSpPr>
          <p:cNvPr id="13" name="Text 11"/>
          <p:cNvSpPr/>
          <p:nvPr/>
        </p:nvSpPr>
        <p:spPr>
          <a:xfrm>
            <a:off x="685800" y="3767328"/>
            <a:ext cx="2331720" cy="77952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92.5%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85800" y="4507992"/>
            <a:ext cx="2331720" cy="53858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AAB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classifier accuracy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337560" y="36576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1F3A5C"/>
          </a:solidFill>
        </p:spPr>
      </p:sp>
      <p:sp>
        <p:nvSpPr>
          <p:cNvPr id="16" name="Text 14"/>
          <p:cNvSpPr/>
          <p:nvPr/>
        </p:nvSpPr>
        <p:spPr>
          <a:xfrm>
            <a:off x="3474720" y="3767328"/>
            <a:ext cx="2331720" cy="77952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474720" y="4507992"/>
            <a:ext cx="2331720" cy="53858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AAB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fine-tune eval loss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26480" y="36576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1F3A5C"/>
          </a:solidFill>
        </p:spPr>
      </p:sp>
      <p:sp>
        <p:nvSpPr>
          <p:cNvPr id="19" name="Text 17"/>
          <p:cNvSpPr/>
          <p:nvPr/>
        </p:nvSpPr>
        <p:spPr>
          <a:xfrm>
            <a:off x="6263640" y="3767328"/>
            <a:ext cx="2331720" cy="77952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84.6%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263640" y="4507992"/>
            <a:ext cx="2331720" cy="53858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AAB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hit@1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15400" y="3657600"/>
            <a:ext cx="2724912" cy="1417320"/>
          </a:xfrm>
          <a:prstGeom prst="roundRect">
            <a:avLst>
              <a:gd name="adj" fmla="val 5161"/>
            </a:avLst>
          </a:prstGeom>
          <a:solidFill>
            <a:srgbClr val="1F3A5C"/>
          </a:solidFill>
        </p:spPr>
      </p:sp>
      <p:sp>
        <p:nvSpPr>
          <p:cNvPr id="22" name="Text 20"/>
          <p:cNvSpPr/>
          <p:nvPr/>
        </p:nvSpPr>
        <p:spPr>
          <a:xfrm>
            <a:off x="9052560" y="3767328"/>
            <a:ext cx="2450592" cy="77952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052560" y="4507992"/>
            <a:ext cx="2450592" cy="53858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AAB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escalations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5349240"/>
            <a:ext cx="1106424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extends the Psychologist Agent (DPO/QLoRA, RAG, independent safety checks) and AURA (sensor classification) — same discipline, applied to a second, independently verifiable domain, at production evaluation standard.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263640"/>
            <a:ext cx="7315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 welcome.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091672" y="6473952"/>
            <a:ext cx="9144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7821</Words>
  <Application>WPS Docs</Application>
  <PresentationFormat>On-screen Show (16:9)</PresentationFormat>
  <Paragraphs>369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5" baseType="lpstr">
      <vt:lpstr>Arial</vt:lpstr>
      <vt:lpstr>SimSun</vt:lpstr>
      <vt:lpstr>Wingdings</vt:lpstr>
      <vt:lpstr>Calibri</vt:lpstr>
      <vt:lpstr>Helvetica Neue</vt:lpstr>
      <vt:lpstr>Calibri</vt:lpstr>
      <vt:lpstr>Calibri</vt:lpstr>
      <vt:lpstr>Arial</vt:lpstr>
      <vt:lpstr>Microsoft YaHei</vt:lpstr>
      <vt:lpstr>汉仪旗黑</vt:lpstr>
      <vt:lpstr>Arial Unicode MS</vt:lpstr>
      <vt:lpstr>汉仪书宋二KW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Kevin Sun</cp:lastModifiedBy>
  <cp:revision>2</cp:revision>
  <dcterms:created xsi:type="dcterms:W3CDTF">2026-08-08T02:54:51Z</dcterms:created>
  <dcterms:modified xsi:type="dcterms:W3CDTF">2026-08-08T02:54:51Z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91EC4B83E11402617B9A766A1D936F7F_43</vt:lpwstr>
  </property>
  <property fmtid="{D5CDD505-2E9C-101B-9397-08002B2CF9AE}" pid="3" name="KSOProductBuildVer">
    <vt:lpwstr>1033-12.1.26050.26050</vt:lpwstr>
  </property>
</Properties>
</file>
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Mean latency (ms), 200 warm-up-free runs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(ms, log-scale gap)</c:v>
                </c:pt>
              </c:strCache>
            </c:strRef>
          </c:tx>
          <c:spPr>
            <a:solidFill>
              <a:srgbClr val="3E6E8E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FP32</c:v>
                  </c:pt>
                  <c:pt idx="1">
                    <c:v>INT8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0.0346</c:v>
                </c:pt>
                <c:pt idx="1">
                  <c:v>0.8748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5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53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QLoRA/DPO ablation — final eval loss (Qwen2.5-1.5B)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Final eval loss</c:v>
                </c:pt>
              </c:strCache>
            </c:strRef>
          </c:tx>
          <c:spPr>
            <a:solidFill>
              <a:srgbClr val="3E6E8E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6E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C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6E8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 (r=8, lr=2e-4)</c:v>
                  </c:pt>
                  <c:pt idx="1">
                    <c:v>B (r=16, lr=2e-4) — selected</c:v>
                  </c:pt>
                  <c:pt idx="2">
                    <c:v>C (r=16, lr=1e-4)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0.0266</c:v>
                </c:pt>
                <c:pt idx="1">
                  <c:v>0.0082</c:v>
                </c:pt>
                <c:pt idx="2">
                  <c:v>0.0506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625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D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53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Precision vs. recall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3E6E8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ROUTINE</c:v>
                  </c:pt>
                  <c:pt idx="1">
                    <c:v>MILD_DISTRESS</c:v>
                  </c:pt>
                  <c:pt idx="2">
                    <c:v>ESCALATE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0.833</c:v>
                </c:pt>
                <c:pt idx="1">
                  <c:v>1</c:v>
                </c:pt>
                <c:pt idx="2">
                  <c:v>0.75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0A45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ROUTINE</c:v>
                  </c:pt>
                  <c:pt idx="1">
                    <c:v>MILD_DISTRESS</c:v>
                  </c:pt>
                  <c:pt idx="2">
                    <c:v>ESCALATE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0.833</c:v>
                </c:pt>
                <c:pt idx="1">
                  <c:v>0.667</c:v>
                </c:pt>
                <c:pt idx="2">
                  <c:v>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625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53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6400800" cy="6400800"/>
          </a:xfrm>
          <a:prstGeom prst="ellipse">
            <a:avLst/>
          </a:prstGeom>
          <a:solidFill>
            <a:srgbClr val="1F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3657600" cy="3657600"/>
          </a:xfrm>
          <a:prstGeom prst="ellipse">
            <a:avLst/>
          </a:prstGeom>
          <a:solidFill>
            <a:srgbClr val="223F6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NEURAL NETWORK ANALYST INTERNSHIP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Dynamics Capstone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Classification, Fine-Tuning &amp; RAG for Companion Dialogue Safety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0292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Yihang Sun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Neural Network Analyst Intern, InGen Dynamics Inc.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engagement · July 6 – August 1, 2026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Iqbal Patel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readout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DCE7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6642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product landscape &amp; PIC 2.0 / OpenClaw bridge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457200" cy="457200"/>
          </a:xfrm>
          <a:prstGeom prst="ellipse">
            <a:avLst/>
          </a:prstGeom>
          <a:solidFill>
            <a:srgbClr val="DCE7E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3225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Edge-constrained neural network classifier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08376"/>
            <a:ext cx="457200" cy="457200"/>
          </a:xfrm>
          <a:prstGeom prst="ellipse">
            <a:avLst/>
          </a:prstGeom>
          <a:solidFill>
            <a:srgbClr val="DCE7E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9809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QLoRA/DPO fine-tuning &amp; FAISS RAG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66744"/>
            <a:ext cx="457200" cy="457200"/>
          </a:xfrm>
          <a:prstGeom prst="ellipse">
            <a:avLst/>
          </a:prstGeom>
          <a:solidFill>
            <a:srgbClr val="DCE7E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6393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Independent safety &amp; escalation evaluation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1691640"/>
            <a:ext cx="457200" cy="457200"/>
          </a:xfrm>
          <a:prstGeom prst="ellipse">
            <a:avLst/>
          </a:prstGeom>
          <a:solidFill>
            <a:srgbClr val="DCE7EE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16642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Cross-track synthesis: on-device vs. cloud-assisted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2350008"/>
            <a:ext cx="457200" cy="457200"/>
          </a:xfrm>
          <a:prstGeom prst="ellipse">
            <a:avLst/>
          </a:prstGeom>
          <a:solidFill>
            <a:srgbClr val="DCE7EE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23225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Per-platform recommendations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63640" y="3008376"/>
            <a:ext cx="457200" cy="457200"/>
          </a:xfrm>
          <a:prstGeom prst="ellipse">
            <a:avLst/>
          </a:prstGeom>
          <a:solidFill>
            <a:srgbClr val="DCE7EE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29809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what a longer engagement would pursue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63640" y="3666744"/>
            <a:ext cx="457200" cy="457200"/>
          </a:xfrm>
          <a:prstGeom prst="ellipse">
            <a:avLst/>
          </a:prstGeom>
          <a:solidFill>
            <a:srgbClr val="DCE7EE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36393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Career-portfolio signature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products, five different ML problems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39696" cy="3977640"/>
          </a:xfrm>
          <a:prstGeom prst="roundRect">
            <a:avLst>
              <a:gd name="adj" fmla="val 3419"/>
            </a:avLst>
          </a:prstGeom>
          <a:solidFill>
            <a:srgbClr val="DCE7E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E6E8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Eldercare companion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generation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470916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never diagnose or replace a caregiver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16352" y="1691640"/>
            <a:ext cx="2139696" cy="3977640"/>
          </a:xfrm>
          <a:prstGeom prst="roundRect">
            <a:avLst>
              <a:gd name="adj" fmla="val 3419"/>
            </a:avLst>
          </a:prstGeom>
          <a:solidFill>
            <a:srgbClr val="DCE7EE"/>
          </a:solidFill>
          <a:ln/>
        </p:spPr>
      </p:sp>
      <p:sp>
        <p:nvSpPr>
          <p:cNvPr id="14" name="Shape 12"/>
          <p:cNvSpPr/>
          <p:nvPr/>
        </p:nvSpPr>
        <p:spPr>
          <a:xfrm>
            <a:off x="2999232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E6E8E"/>
          </a:solidFill>
          <a:ln/>
        </p:spPr>
      </p:sp>
      <p:sp>
        <p:nvSpPr>
          <p:cNvPr id="15" name="Text 13"/>
          <p:cNvSpPr/>
          <p:nvPr/>
        </p:nvSpPr>
        <p:spPr>
          <a:xfrm>
            <a:off x="299923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99232" y="251460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Senpai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999232" y="297180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companion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99232" y="347472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TYPE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99232" y="370332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+ retrieval + classification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99232" y="448056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99232" y="470916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in curriculum content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84064" y="1691640"/>
            <a:ext cx="2139696" cy="3977640"/>
          </a:xfrm>
          <a:prstGeom prst="roundRect">
            <a:avLst>
              <a:gd name="adj" fmla="val 3419"/>
            </a:avLst>
          </a:prstGeom>
          <a:solidFill>
            <a:srgbClr val="F1F4F7"/>
          </a:solidFill>
          <a:ln/>
        </p:spPr>
      </p:sp>
      <p:sp>
        <p:nvSpPr>
          <p:cNvPr id="23" name="Shape 21"/>
          <p:cNvSpPr/>
          <p:nvPr/>
        </p:nvSpPr>
        <p:spPr>
          <a:xfrm>
            <a:off x="5266944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E6E8E"/>
          </a:solidFill>
          <a:ln/>
        </p:spPr>
      </p:sp>
      <p:sp>
        <p:nvSpPr>
          <p:cNvPr id="24" name="Text 22"/>
          <p:cNvSpPr/>
          <p:nvPr/>
        </p:nvSpPr>
        <p:spPr>
          <a:xfrm>
            <a:off x="526694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66944" y="251460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Prime AI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66944" y="297180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security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66944" y="347472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TYPE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66944" y="370332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(27 detection functions)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66944" y="448056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66944" y="470916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 latency, &lt;3% false alerts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51776" y="1691640"/>
            <a:ext cx="2139696" cy="3977640"/>
          </a:xfrm>
          <a:prstGeom prst="roundRect">
            <a:avLst>
              <a:gd name="adj" fmla="val 3419"/>
            </a:avLst>
          </a:prstGeom>
          <a:solidFill>
            <a:srgbClr val="F1F4F7"/>
          </a:solidFill>
          <a:ln/>
        </p:spPr>
      </p:sp>
      <p:sp>
        <p:nvSpPr>
          <p:cNvPr id="32" name="Shape 30"/>
          <p:cNvSpPr/>
          <p:nvPr/>
        </p:nvSpPr>
        <p:spPr>
          <a:xfrm>
            <a:off x="7534656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E6E8E"/>
          </a:solidFill>
          <a:ln/>
        </p:spPr>
      </p:sp>
      <p:sp>
        <p:nvSpPr>
          <p:cNvPr id="33" name="Text 31"/>
          <p:cNvSpPr/>
          <p:nvPr/>
        </p:nvSpPr>
        <p:spPr>
          <a:xfrm>
            <a:off x="753465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34656" y="251460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Aido Rover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534656" y="297180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patrol &amp; inspection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534656" y="347472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TYPE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34656" y="370332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planning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534656" y="448056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34656" y="470916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under changing conditions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619488" y="1691640"/>
            <a:ext cx="2139696" cy="3977640"/>
          </a:xfrm>
          <a:prstGeom prst="roundRect">
            <a:avLst>
              <a:gd name="adj" fmla="val 3419"/>
            </a:avLst>
          </a:prstGeom>
          <a:solidFill>
            <a:srgbClr val="F1F4F7"/>
          </a:solidFill>
          <a:ln/>
        </p:spPr>
      </p:sp>
      <p:sp>
        <p:nvSpPr>
          <p:cNvPr id="41" name="Shape 39"/>
          <p:cNvSpPr/>
          <p:nvPr/>
        </p:nvSpPr>
        <p:spPr>
          <a:xfrm>
            <a:off x="9802368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E6E8E"/>
          </a:solidFill>
          <a:ln/>
        </p:spPr>
      </p:sp>
      <p:sp>
        <p:nvSpPr>
          <p:cNvPr id="42" name="Text 40"/>
          <p:cNvSpPr/>
          <p:nvPr/>
        </p:nvSpPr>
        <p:spPr>
          <a:xfrm>
            <a:off x="980236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802368" y="251460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Aido Humanoid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802368" y="297180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bipedal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802368" y="347472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TYPE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802368" y="370332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policy control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802368" y="448056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802368" y="470916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Physical, real-time safety (&lt;2ms e-stop)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 &amp; Senpai anchor the generation/retrieval track (Week 3) · Sentinel Prime AI &amp; Aido Rover anchor the classification track (Week 2) · Aido Humanoid's planning problem is out of scope for both tracks (Section 6)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2.0 -&gt; OpenClaw: a working hypothesis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= my prior multi-agent market-research system (Planner, Knowledge, Quant, Risk, Critic, Report; FastAPI + Docker; 78 passing tests)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2.0 MODEL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91840" y="1828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OPENCLAW COMPONENT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0664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50292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945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HTD-IRL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219456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06640" y="224028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C97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2240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74320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/ retrieval agent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06640" y="278892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5B8C6E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2788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11247120" cy="50292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918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32918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/ analysis agent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06640" y="333756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3337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8404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38404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+ Critic agents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06640" y="388620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3886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11247120" cy="50292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389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CRL-MRS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1840" y="43891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agent (loosely)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06640" y="44348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C97A4A"/>
          </a:solidFill>
          <a:ln/>
        </p:spPr>
      </p:sp>
      <p:sp>
        <p:nvSpPr>
          <p:cNvPr id="30" name="Text 28"/>
          <p:cNvSpPr/>
          <p:nvPr/>
        </p:nvSpPr>
        <p:spPr>
          <a:xfrm>
            <a:off x="7406640" y="44348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9377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91840" y="493776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confident mapping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406640" y="498348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5B6B80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49834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Unmapped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58064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OpenClaw already demonstrates 4 of 6 PIC 2.0 patterns. Physical multi-robot coordination and RL-based planning remain new areas — tested indirectly by keeping safety checks independent in Week 3 (Section 4).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Edge-constrained classifier: size, not speed, is the win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DCE7E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01368"/>
            <a:ext cx="22402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624328"/>
            <a:ext cx="224028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691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DCE7EE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801368"/>
            <a:ext cx="22402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92.33%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624328"/>
            <a:ext cx="224028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accuracy (-0.17pp)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1691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E4EEE7"/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1801368"/>
            <a:ext cx="22402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-68.6%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989320" y="2624328"/>
            <a:ext cx="224028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after INT8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1691640"/>
            <a:ext cx="3108960" cy="1554480"/>
          </a:xfrm>
          <a:prstGeom prst="roundRect">
            <a:avLst>
              <a:gd name="adj" fmla="val 4706"/>
            </a:avLst>
          </a:prstGeom>
          <a:solidFill>
            <a:srgbClr val="F3E4D8"/>
          </a:solidFill>
          <a:ln/>
        </p:spPr>
      </p:sp>
      <p:sp>
        <p:nvSpPr>
          <p:cNvPr id="14" name="Text 12"/>
          <p:cNvSpPr/>
          <p:nvPr/>
        </p:nvSpPr>
        <p:spPr>
          <a:xfrm>
            <a:off x="8641080" y="1801368"/>
            <a:ext cx="28346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~25x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641080" y="2624328"/>
            <a:ext cx="283464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not faster, after INT8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3520440"/>
          <a:ext cx="50292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5852160" y="3520440"/>
            <a:ext cx="5760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30-step sensor windows on synthetic Aido Rover data (4,000 samples, 1,000/class); 210 -&gt; 64 -&gt; 32 -&gt; 4 feedforward network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20ms real-time budget cleared by ~578x (FP32) and ~23x (INT8) — latency was never the binding constraint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quantize anyway, for memory headroom once several models share one chip (Sentinel's 5-model ensemble, Rover's 14-sensor stack)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WEEK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QLoRA/DPO ablation + FAISS retrieval on Fari dialogue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5778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6916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DCE7EE"/>
          </a:solidFill>
          <a:ln/>
        </p:spPr>
      </p:sp>
      <p:sp>
        <p:nvSpPr>
          <p:cNvPr id="6" name="Text 3"/>
          <p:cNvSpPr/>
          <p:nvPr/>
        </p:nvSpPr>
        <p:spPr>
          <a:xfrm>
            <a:off x="6537960" y="1801368"/>
            <a:ext cx="22402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537960" y="2542032"/>
            <a:ext cx="2240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hit@1 (11/13 queries)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052560" y="1691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DCE7EE"/>
          </a:solidFill>
          <a:ln/>
        </p:spPr>
      </p:sp>
      <p:sp>
        <p:nvSpPr>
          <p:cNvPr id="9" name="Text 6"/>
          <p:cNvSpPr/>
          <p:nvPr/>
        </p:nvSpPr>
        <p:spPr>
          <a:xfrm>
            <a:off x="9189720" y="1801368"/>
            <a:ext cx="2331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189720" y="2542032"/>
            <a:ext cx="23317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hit@3 &amp; hit@5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0" y="333756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3E4D8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3474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miss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83680" y="3794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fine-tuned configs (and the base model) missed one indirect self-harm warning sign — confirmed across two separate training runs, not a fluke.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5074920"/>
            <a:ext cx="11064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knowledge-base chunks, own words, grounded in NIA/NIH, CDC, WHO sources — sentence-transformers + FAISS, same architecture as the Psychologist Agent RAG pipeline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DPO preference pairs (18/category), resized from 108 per supervisor guidance; reached this result after tracing and fixing a real dtype bug in trl 0.9.6's k-bit training path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WEEK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check: independent of the model it's checking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DCE7E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01368"/>
            <a:ext cx="274320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624328"/>
            <a:ext cx="27432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(15/18 transcripts)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94760" y="169164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E4EEE7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1801368"/>
            <a:ext cx="274320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5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931920" y="2624328"/>
            <a:ext cx="27432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on ESCALATE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040880" y="169164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3520440"/>
            <a:ext cx="6126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embedding-centroid + keyword-override classifier, kept deliberately separate from the fine-tuned dialogue model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18 labeled transcripts never used to write the exemplars or keyword list — avoids the circularity risk flagged for the Psychologist Agent's original evaluation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missed escalations, at the cost of some over-triggering on MILD_DISTRESS (precision 0.75) — the right side to err on for a companion robot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tracks, two very different compute problems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1F3A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TRACK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17K params · 0.066 MB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its 20ms latency budget by ~578x before any optimization. Runs comfortably alongside several other models on shared edge silicon — the real constraint is memory footprint, not speed.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Sentinel Prime AI, Aido Rover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62472" y="16916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1F3A5C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+ RETRIEVAL TRACK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82512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 params · dedicated GPU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82512" y="29718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model chosen specifically to be small needed 4-bit quantization and a real CUDA GPU just to train. Inference at this scale is orders of magnitude heavier than the classification track.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82512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Fari, Senpai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 hybrid architecture — on-device retrieval + safety-checking (cheap, demonstrated this week) paired with cloud-assisted generation — fits Fari/Senpai better than a fully on-device generation stack.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Per-platform recommendations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1F4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E6E8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the fine-tuned conversational layer with an independent, non-generative safety classifier — motivated directly by the indirect-warning-sign miss. RAG-plus-safety-check is a ready-to-extend pattern for Fari's safety requirement.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1F4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E6E8E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Senpai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32461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FAISS retrieval pipeline (84.6% hit@1) is directly applicable for grounding tutoring responses in curriculum content. Watch chunk granularity as the knowledge base scales past 13 chunks.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1F4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E6E8E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75320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Prime AI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75320" y="32461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quantization (-0.17pp accuracy, -68.6% size, slower not faster at this scale) informs the stated 5-model Jetson AGX Orin ensemble: quantize for memory headroom, not for a latency win this model size doesn't need.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Per-platform recommendations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1F4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E6E8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Aido Rover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Section 2 accuracy-latency methodology against Rover's real 14-sensor stream once available — this week's numbers are from a synthetic proxy. Rover's per-sensor reliability weighting pairs naturally with Sentinel's uncertainty-gating pattern; worth sharing as one component.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1F4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0574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E6E8E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92240" y="2788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Aido Humanoid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92240" y="33832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track this engagement directly addresses planning and policy control (GR00T N1.6, GRPO). The transferable piece is architectural, not technical: keeping a safety governance layer independent of the core policy model — the same principle behind Humanoid's 12 hardwired safety rules. Physical planning and multi-robot coordination remain new areas without direct prior experience.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what comes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642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not real, sensor data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97680" y="166420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classifier trains and evaluates on a synthetic proxy for Aido Rover's sensor set — priority #1 for a longer engagement.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0545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evaluation sets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297680" y="2505456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training pairs, 18 safety transcripts, 13 RAG chunks — a handful of different labels would move headline numbers by several points.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65576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4670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seed, single epoch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97680" y="3346704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A's eval loss shifted from 0.0239 to 0.0266 across two runs on GPU non-determinism alone; ranking is more trustworthy than exact values.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879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evaluator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97680" y="418795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qualitative dialogue comparison was scored by one person; a second reviewer would catch disagreements a single pass could miss.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48072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029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Public-data architecture bridge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97680" y="5029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 2.0 / OpenClaw mapping and the on-device-vs-cloud synthesis are both built from public product pages, not InGen's internal numbers.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F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CAREER-PORTFOLIO SIGNATURE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engagement demonstrates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evaluation, honest reporting of inconvenient results, and an independent safety/governance check — applied across the full compute range InGen's own products span, from a 17K-parameter edge classifier to a 1.5B-parameter fine-tuned language model.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116836" cy="502920"/>
          </a:xfrm>
          <a:prstGeom prst="roundRect">
            <a:avLst>
              <a:gd name="adj" fmla="val 49091"/>
            </a:avLst>
          </a:prstGeom>
          <a:solidFill>
            <a:srgbClr val="1F3A5C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43200"/>
            <a:ext cx="21168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Engineer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94076" y="2743200"/>
            <a:ext cx="3749040" cy="502920"/>
          </a:xfrm>
          <a:prstGeom prst="roundRect">
            <a:avLst>
              <a:gd name="adj" fmla="val 49091"/>
            </a:avLst>
          </a:prstGeom>
          <a:solidFill>
            <a:srgbClr val="1F3A5C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4076" y="2743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 — LLM / Applied Research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71716" y="2743200"/>
            <a:ext cx="2884932" cy="502920"/>
          </a:xfrm>
          <a:prstGeom prst="roundRect">
            <a:avLst>
              <a:gd name="adj" fmla="val 49091"/>
            </a:avLst>
          </a:prstGeom>
          <a:solidFill>
            <a:srgbClr val="1F3A5C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1716" y="2743200"/>
            <a:ext cx="28849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Embedded ML Engineer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F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767328"/>
            <a:ext cx="2331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5800" y="4507992"/>
            <a:ext cx="23317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classifier accuracy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3657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F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3767328"/>
            <a:ext cx="2331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474720" y="4507992"/>
            <a:ext cx="23317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fine-tune eval loss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3657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F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767328"/>
            <a:ext cx="2331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263640" y="4507992"/>
            <a:ext cx="23317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hit@1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15400" y="3657600"/>
            <a:ext cx="2724912" cy="1417320"/>
          </a:xfrm>
          <a:prstGeom prst="roundRect">
            <a:avLst>
              <a:gd name="adj" fmla="val 5161"/>
            </a:avLst>
          </a:prstGeom>
          <a:solidFill>
            <a:srgbClr val="1F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9052560" y="3767328"/>
            <a:ext cx="245059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052560" y="4507992"/>
            <a:ext cx="2450592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escalations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extends the Psychologist Agent (DPO/QLoRA, RAG, independent safety checks) and AURA (sensor classification) — same discipline, applied to a second, independently verifiable domain, at production evaluation standard.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2026-08-04T16:57:05Z</dcterms:created>
  <dcterms:modified xsi:type="dcterms:W3CDTF">2026-08-04T16:57:05Z</dcterms:modified>
</cp:coreProperties>
</file>